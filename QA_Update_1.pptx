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to under a minute. The numbers speak for themselves; read them plainly and move on. Do not add adjectives.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Matter-of-fact tone, not apologetic. Left column = the causes (plain language, don't dwell). Right column = the disciplined workflow that's already running. The gold tracking band is the proof it's in motion — mention story-per-feature and the analysis sheet; the backup slide has detail if asked. This one slide now carries both 'what happened' and 'how we're handling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show the team was ahead of the problem — not just reacting, but hardening. Keep it plain: each item is a real, everyday reliability gain. If asked which are done vs pending, point to the tracking (backup slide) rather than quoting status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BACKUP slide — keep it hidden in the main flow and pull it up only if someone asks 'how do you know it's on track' or 'what's the status.' It answers that question with process, not numbers, so it can't be second-guessed. If you have a screenshot of the actual sheet or board, it can replace the two panels for even more credibility.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slide by design — under a minute. The message is 'we see around the corner, and here is the simple next step.' The ask is tiny (one conversation), which makes it easy to grant on the spot — try to get a verbal yes to the discussion in the room. If asked how big the rework is, say it depends on the design-system scope and that sizing it is exactly what the discussion is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Balanced-but-confident on API. Present idea 1 first — it is nearly free and gets quick agreement, warming the room. Then idea 2: the key line is that screen-based testing has a ceiling — it only sees what the UI shows — so deeper logic/data defects stay hidden until late, no matter who runs the UI tests. That ceiling, not any team's skill, is why API is the logical next layer. Keep the owner-neutral line so it stays collaborative, not a QA land-grab. Offer to bring a proposal in a follow-up; do not improvise scope or 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QA UPDATE  ·  AUTOMATION STATUS AND PLAN</a:t>
            </a:r>
            <a:endParaRPr lang="en-US" sz="12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Where We Are Today</a:t>
            </a:r>
            <a:endParaRPr lang="en-US" sz="3200" dirty="0"/>
          </a:p>
        </p:txBody>
      </p:sp>
      <p:sp>
        <p:nvSpPr>
          <p:cNvPr id="4" name="Shape 2"/>
          <p:cNvSpPr/>
          <p:nvPr/>
        </p:nvSpPr>
        <p:spPr>
          <a:xfrm>
            <a:off x="548640" y="1508760"/>
            <a:ext cx="5440680" cy="3200400"/>
          </a:xfrm>
          <a:prstGeom prst="roundRect">
            <a:avLst>
              <a:gd name="adj" fmla="val 2571"/>
            </a:avLst>
          </a:prstGeom>
          <a:solidFill>
            <a:srgbClr val="F2F5FC"/>
          </a:solidFill>
          <a:ln/>
        </p:spPr>
      </p:sp>
      <p:sp>
        <p:nvSpPr>
          <p:cNvPr id="5" name="Text 3"/>
          <p:cNvSpPr/>
          <p:nvPr/>
        </p:nvSpPr>
        <p:spPr>
          <a:xfrm>
            <a:off x="822960" y="1691640"/>
            <a:ext cx="3291840" cy="274320"/>
          </a:xfrm>
          <a:prstGeom prst="rect">
            <a:avLst/>
          </a:prstGeom>
          <a:noFill/>
          <a:ln/>
        </p:spPr>
        <p:txBody>
          <a:bodyPr wrap="square" lIns="0" tIns="0" rIns="0" bIns="0" rtlCol="0" anchor="ctr"/>
          <a:lstStyle/>
          <a:p>
            <a:pPr indent="0" marL="0">
              <a:buNone/>
            </a:pPr>
            <a:r>
              <a:rPr lang="en-US" sz="1100" b="1" spc="150" kern="0" dirty="0">
                <a:solidFill>
                  <a:srgbClr val="E8A33D"/>
                </a:solidFill>
                <a:latin typeface="Calibri" pitchFamily="34" charset="0"/>
                <a:ea typeface="Calibri" pitchFamily="34" charset="-122"/>
                <a:cs typeface="Calibri" pitchFamily="34" charset="-120"/>
              </a:rPr>
              <a:t>APPLICATION A  ·  ArGO</a:t>
            </a:r>
            <a:endParaRPr lang="en-US" sz="1100" dirty="0"/>
          </a:p>
        </p:txBody>
      </p:sp>
      <p:sp>
        <p:nvSpPr>
          <p:cNvPr id="6" name="Text 4"/>
          <p:cNvSpPr/>
          <p:nvPr/>
        </p:nvSpPr>
        <p:spPr>
          <a:xfrm>
            <a:off x="822960" y="2011680"/>
            <a:ext cx="4846320" cy="594360"/>
          </a:xfrm>
          <a:prstGeom prst="rect">
            <a:avLst/>
          </a:prstGeom>
          <a:noFill/>
          <a:ln/>
        </p:spPr>
        <p:txBody>
          <a:bodyPr wrap="square" lIns="0" tIns="0" rIns="0" bIns="0" rtlCol="0" anchor="ctr"/>
          <a:lstStyle/>
          <a:p>
            <a:pPr indent="0" marL="0">
              <a:buNone/>
            </a:pPr>
            <a:r>
              <a:rPr lang="en-US" sz="3600" b="1" dirty="0">
                <a:solidFill>
                  <a:srgbClr val="1E2761"/>
                </a:solidFill>
                <a:latin typeface="Cambria" pitchFamily="34" charset="0"/>
                <a:ea typeface="Cambria" pitchFamily="34" charset="-122"/>
                <a:cs typeface="Cambria" pitchFamily="34" charset="-120"/>
              </a:rPr>
              <a:t>1,800</a:t>
            </a:r>
            <a:pPr indent="0" marL="0">
              <a:buNone/>
            </a:pPr>
            <a:r>
              <a:rPr lang="en-US" sz="1300" dirty="0">
                <a:solidFill>
                  <a:srgbClr val="5A6472"/>
                </a:solidFill>
                <a:latin typeface="Calibri" pitchFamily="34" charset="0"/>
                <a:ea typeface="Calibri" pitchFamily="34" charset="-122"/>
                <a:cs typeface="Calibri" pitchFamily="34" charset="-120"/>
              </a:rPr>
              <a:t>  tests in the regression suite</a:t>
            </a:r>
            <a:endParaRPr lang="en-US" sz="3600" dirty="0"/>
          </a:p>
        </p:txBody>
      </p:sp>
      <p:sp>
        <p:nvSpPr>
          <p:cNvPr id="7" name="Text 5"/>
          <p:cNvSpPr/>
          <p:nvPr/>
        </p:nvSpPr>
        <p:spPr>
          <a:xfrm>
            <a:off x="822960" y="2743200"/>
            <a:ext cx="4892040" cy="1737360"/>
          </a:xfrm>
          <a:prstGeom prst="rect">
            <a:avLst/>
          </a:prstGeom>
          <a:noFill/>
          <a:ln/>
        </p:spPr>
        <p:txBody>
          <a:bodyPr wrap="square" lIns="0" tIns="0" rIns="0" bIns="0" rtlCol="0" anchor="ctr"/>
          <a:lstStyle/>
          <a:p>
            <a:pPr indent="0" marL="0">
              <a:spcAft>
                <a:spcPts val="400"/>
              </a:spcAft>
              <a:buNone/>
            </a:pPr>
            <a:r>
              <a:rPr lang="en-US" sz="1250" dirty="0">
                <a:solidFill>
                  <a:srgbClr val="23272F"/>
                </a:solidFill>
                <a:latin typeface="Calibri" pitchFamily="34" charset="0"/>
                <a:ea typeface="Calibri" pitchFamily="34" charset="-122"/>
                <a:cs typeface="Calibri" pitchFamily="34" charset="-120"/>
              </a:rPr>
              <a:t>Each test runs for 6 user roles and on 2 databases.</a:t>
            </a:r>
            <a:endParaRPr lang="en-US" sz="1250" dirty="0"/>
          </a:p>
          <a:p>
            <a:pPr indent="0" marL="0">
              <a:spcAft>
                <a:spcPts val="400"/>
              </a:spcAft>
              <a:buNone/>
            </a:pPr>
            <a:r>
              <a:rPr lang="en-US" sz="1250" dirty="0">
                <a:solidFill>
                  <a:srgbClr val="23272F"/>
                </a:solidFill>
                <a:latin typeface="Calibri" pitchFamily="34" charset="0"/>
                <a:ea typeface="Calibri" pitchFamily="34" charset="-122"/>
                <a:cs typeface="Calibri" pitchFamily="34" charset="-120"/>
              </a:rPr>
              <a:t>That comes to more than 21,000 test runs in a full cycle.</a:t>
            </a:r>
            <a:endParaRPr lang="en-US" sz="1250" dirty="0"/>
          </a:p>
          <a:p>
            <a:pPr indent="0" marL="0">
              <a:spcAft>
                <a:spcPts val="400"/>
              </a:spcAft>
              <a:buNone/>
            </a:pPr>
            <a:endParaRPr lang="en-US" sz="1250" dirty="0"/>
          </a:p>
          <a:p>
            <a:pPr indent="0" marL="0">
              <a:spcAft>
                <a:spcPts val="400"/>
              </a:spcAft>
              <a:buNone/>
            </a:pPr>
            <a:r>
              <a:rPr lang="en-US" sz="1250" dirty="0">
                <a:solidFill>
                  <a:srgbClr val="23272F"/>
                </a:solidFill>
                <a:latin typeface="Calibri" pitchFamily="34" charset="0"/>
                <a:ea typeface="Calibri" pitchFamily="34" charset="-122"/>
                <a:cs typeface="Calibri" pitchFamily="34" charset="-120"/>
              </a:rPr>
              <a:t>600 tests are automated today. 600 more are planned.</a:t>
            </a:r>
            <a:endParaRPr lang="en-US" sz="1250" dirty="0"/>
          </a:p>
          <a:p>
            <a:pPr indent="0" marL="0">
              <a:spcAft>
                <a:spcPts val="400"/>
              </a:spcAft>
              <a:buNone/>
            </a:pPr>
            <a:r>
              <a:rPr lang="en-US" sz="1250" dirty="0">
                <a:solidFill>
                  <a:srgbClr val="23272F"/>
                </a:solidFill>
                <a:latin typeface="Calibri" pitchFamily="34" charset="0"/>
                <a:ea typeface="Calibri" pitchFamily="34" charset="-122"/>
                <a:cs typeface="Calibri" pitchFamily="34" charset="-120"/>
              </a:rPr>
              <a:t>The remaining 600 need physical hardware, so they stay manual.</a:t>
            </a:r>
            <a:endParaRPr lang="en-US" sz="1250" dirty="0"/>
          </a:p>
        </p:txBody>
      </p:sp>
      <p:sp>
        <p:nvSpPr>
          <p:cNvPr id="8" name="Shape 6"/>
          <p:cNvSpPr/>
          <p:nvPr/>
        </p:nvSpPr>
        <p:spPr>
          <a:xfrm>
            <a:off x="6199632" y="1508760"/>
            <a:ext cx="5440680" cy="3200400"/>
          </a:xfrm>
          <a:prstGeom prst="roundRect">
            <a:avLst>
              <a:gd name="adj" fmla="val 2571"/>
            </a:avLst>
          </a:prstGeom>
          <a:solidFill>
            <a:srgbClr val="F2F5FC"/>
          </a:solidFill>
          <a:ln/>
        </p:spPr>
      </p:sp>
      <p:sp>
        <p:nvSpPr>
          <p:cNvPr id="9" name="Text 7"/>
          <p:cNvSpPr/>
          <p:nvPr/>
        </p:nvSpPr>
        <p:spPr>
          <a:xfrm>
            <a:off x="6473952" y="1691640"/>
            <a:ext cx="3291840" cy="274320"/>
          </a:xfrm>
          <a:prstGeom prst="rect">
            <a:avLst/>
          </a:prstGeom>
          <a:noFill/>
          <a:ln/>
        </p:spPr>
        <p:txBody>
          <a:bodyPr wrap="square" lIns="0" tIns="0" rIns="0" bIns="0" rtlCol="0" anchor="ctr"/>
          <a:lstStyle/>
          <a:p>
            <a:pPr indent="0" marL="0">
              <a:buNone/>
            </a:pPr>
            <a:r>
              <a:rPr lang="en-US" sz="1100" b="1" spc="150" kern="0" dirty="0">
                <a:solidFill>
                  <a:srgbClr val="E8A33D"/>
                </a:solidFill>
                <a:latin typeface="Calibri" pitchFamily="34" charset="0"/>
                <a:ea typeface="Calibri" pitchFamily="34" charset="-122"/>
                <a:cs typeface="Calibri" pitchFamily="34" charset="-120"/>
              </a:rPr>
              <a:t>APPLICATION B  ·  AC-RT</a:t>
            </a:r>
            <a:endParaRPr lang="en-US" sz="1100" dirty="0"/>
          </a:p>
        </p:txBody>
      </p:sp>
      <p:sp>
        <p:nvSpPr>
          <p:cNvPr id="10" name="Text 8"/>
          <p:cNvSpPr/>
          <p:nvPr/>
        </p:nvSpPr>
        <p:spPr>
          <a:xfrm>
            <a:off x="6473952" y="2011680"/>
            <a:ext cx="4846320" cy="594360"/>
          </a:xfrm>
          <a:prstGeom prst="rect">
            <a:avLst/>
          </a:prstGeom>
          <a:noFill/>
          <a:ln/>
        </p:spPr>
        <p:txBody>
          <a:bodyPr wrap="square" lIns="0" tIns="0" rIns="0" bIns="0" rtlCol="0" anchor="ctr"/>
          <a:lstStyle/>
          <a:p>
            <a:pPr indent="0" marL="0">
              <a:buNone/>
            </a:pPr>
            <a:r>
              <a:rPr lang="en-US" sz="3600" b="1" dirty="0">
                <a:solidFill>
                  <a:srgbClr val="1E2761"/>
                </a:solidFill>
                <a:latin typeface="Cambria" pitchFamily="34" charset="0"/>
                <a:ea typeface="Cambria" pitchFamily="34" charset="-122"/>
                <a:cs typeface="Cambria" pitchFamily="34" charset="-120"/>
              </a:rPr>
              <a:t>~1,000</a:t>
            </a:r>
            <a:pPr indent="0" marL="0">
              <a:buNone/>
            </a:pPr>
            <a:r>
              <a:rPr lang="en-US" sz="1300" dirty="0">
                <a:solidFill>
                  <a:srgbClr val="5A6472"/>
                </a:solidFill>
                <a:latin typeface="Calibri" pitchFamily="34" charset="0"/>
                <a:ea typeface="Calibri" pitchFamily="34" charset="-122"/>
                <a:cs typeface="Calibri" pitchFamily="34" charset="-120"/>
              </a:rPr>
              <a:t>  tests in the regression suite</a:t>
            </a:r>
            <a:endParaRPr lang="en-US" sz="3600" dirty="0"/>
          </a:p>
        </p:txBody>
      </p:sp>
      <p:sp>
        <p:nvSpPr>
          <p:cNvPr id="11" name="Text 9"/>
          <p:cNvSpPr/>
          <p:nvPr/>
        </p:nvSpPr>
        <p:spPr>
          <a:xfrm>
            <a:off x="6473952" y="2743200"/>
            <a:ext cx="4892040" cy="1737360"/>
          </a:xfrm>
          <a:prstGeom prst="rect">
            <a:avLst/>
          </a:prstGeom>
          <a:noFill/>
          <a:ln/>
        </p:spPr>
        <p:txBody>
          <a:bodyPr wrap="square" lIns="0" tIns="0" rIns="0" bIns="0" rtlCol="0" anchor="ctr"/>
          <a:lstStyle/>
          <a:p>
            <a:pPr indent="0" marL="0">
              <a:spcAft>
                <a:spcPts val="400"/>
              </a:spcAft>
              <a:buNone/>
            </a:pPr>
            <a:r>
              <a:rPr lang="en-US" sz="1250" dirty="0">
                <a:solidFill>
                  <a:srgbClr val="23272F"/>
                </a:solidFill>
                <a:latin typeface="Calibri" pitchFamily="34" charset="0"/>
                <a:ea typeface="Calibri" pitchFamily="34" charset="-122"/>
                <a:cs typeface="Calibri" pitchFamily="34" charset="-120"/>
              </a:rPr>
              <a:t>The old automation setup here was outdated, so we rebuilt it from scratch on a newer technology.</a:t>
            </a:r>
            <a:endParaRPr lang="en-US" sz="1250" dirty="0"/>
          </a:p>
          <a:p>
            <a:pPr indent="0" marL="0">
              <a:spcAft>
                <a:spcPts val="400"/>
              </a:spcAft>
              <a:buNone/>
            </a:pPr>
            <a:endParaRPr lang="en-US" sz="1250" dirty="0"/>
          </a:p>
          <a:p>
            <a:pPr indent="0" marL="0">
              <a:spcAft>
                <a:spcPts val="400"/>
              </a:spcAft>
              <a:buNone/>
            </a:pPr>
            <a:r>
              <a:rPr lang="en-US" sz="1250" dirty="0">
                <a:solidFill>
                  <a:srgbClr val="23272F"/>
                </a:solidFill>
                <a:latin typeface="Calibri" pitchFamily="34" charset="0"/>
                <a:ea typeface="Calibri" pitchFamily="34" charset="-122"/>
                <a:cs typeface="Calibri" pitchFamily="34" charset="-120"/>
              </a:rPr>
              <a:t>20% of tests are already automated on the new setup, and we have also enabled the development team to add their own automated tests to it.</a:t>
            </a:r>
            <a:endParaRPr lang="en-US" sz="1250" dirty="0"/>
          </a:p>
        </p:txBody>
      </p:sp>
      <p:sp>
        <p:nvSpPr>
          <p:cNvPr id="12" name="Shape 10"/>
          <p:cNvSpPr/>
          <p:nvPr/>
        </p:nvSpPr>
        <p:spPr>
          <a:xfrm>
            <a:off x="548640" y="4983480"/>
            <a:ext cx="11091672" cy="868680"/>
          </a:xfrm>
          <a:prstGeom prst="roundRect">
            <a:avLst>
              <a:gd name="adj" fmla="val 9474"/>
            </a:avLst>
          </a:prstGeom>
          <a:solidFill>
            <a:srgbClr val="1E2761"/>
          </a:solidFill>
          <a:ln/>
        </p:spPr>
      </p:sp>
      <p:sp>
        <p:nvSpPr>
          <p:cNvPr id="13" name="Text 11"/>
          <p:cNvSpPr/>
          <p:nvPr/>
        </p:nvSpPr>
        <p:spPr>
          <a:xfrm>
            <a:off x="914400" y="5138928"/>
            <a:ext cx="10378440" cy="548640"/>
          </a:xfrm>
          <a:prstGeom prst="rect">
            <a:avLst/>
          </a:prstGeom>
          <a:noFill/>
          <a:ln/>
        </p:spPr>
        <p:txBody>
          <a:bodyPr wrap="square" lIns="0" tIns="0" rIns="0" bIns="0" rtlCol="0" anchor="ctr"/>
          <a:lstStyle/>
          <a:p>
            <a:pPr indent="0" marL="0">
              <a:buNone/>
            </a:pPr>
            <a:r>
              <a:rPr lang="en-US" sz="1400" b="1" dirty="0">
                <a:solidFill>
                  <a:srgbClr val="E8A33D"/>
                </a:solidFill>
                <a:latin typeface="Calibri" pitchFamily="34" charset="0"/>
                <a:ea typeface="Calibri" pitchFamily="34" charset="-122"/>
                <a:cs typeface="Calibri" pitchFamily="34" charset="-120"/>
              </a:rPr>
              <a:t>All of this is handled by a team of 3 QA engineers</a:t>
            </a:r>
            <a:pPr indent="0" marL="0">
              <a:buNone/>
            </a:pPr>
            <a:r>
              <a:rPr lang="en-US" sz="1400" dirty="0">
                <a:solidFill>
                  <a:srgbClr val="FFFFFF"/>
                </a:solidFill>
                <a:latin typeface="Calibri" pitchFamily="34" charset="0"/>
                <a:ea typeface="Calibri" pitchFamily="34" charset="-122"/>
                <a:cs typeface="Calibri" pitchFamily="34" charset="-120"/>
              </a:rPr>
              <a:t> — along with manual testing, defect validation, and release support for every release.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CURRENT SITUATION</a:t>
            </a:r>
            <a:endParaRPr lang="en-US" sz="12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Why Tests Failed — and How We're Fixing Them</a:t>
            </a:r>
            <a:endParaRPr lang="en-US" sz="3200" dirty="0"/>
          </a:p>
        </p:txBody>
      </p:sp>
      <p:sp>
        <p:nvSpPr>
          <p:cNvPr id="4" name="Text 2"/>
          <p:cNvSpPr/>
          <p:nvPr/>
        </p:nvSpPr>
        <p:spPr>
          <a:xfrm>
            <a:off x="548640" y="1371600"/>
            <a:ext cx="11064240" cy="640080"/>
          </a:xfrm>
          <a:prstGeom prst="rect">
            <a:avLst/>
          </a:prstGeom>
          <a:noFill/>
          <a:ln/>
        </p:spPr>
        <p:txBody>
          <a:bodyPr wrap="square" lIns="0" tIns="0" rIns="0" bIns="0" rtlCol="0" anchor="ctr"/>
          <a:lstStyle/>
          <a:p>
            <a:pPr indent="0" marL="0">
              <a:buNone/>
            </a:pPr>
            <a:r>
              <a:rPr lang="en-US" sz="1400" dirty="0">
                <a:solidFill>
                  <a:srgbClr val="23272F"/>
                </a:solidFill>
                <a:latin typeface="Calibri" pitchFamily="34" charset="0"/>
                <a:ea typeface="Calibri" pitchFamily="34" charset="-122"/>
                <a:cs typeface="Calibri" pitchFamily="34" charset="-120"/>
              </a:rPr>
              <a:t>The recent release brought in important security fixes, and with them some screens and behavior changed. Our tests were written for the earlier screens, so some stopped passing. We have reviewed every failure — the causes are clear, and the fix is already underway.</a:t>
            </a:r>
            <a:endParaRPr lang="en-US" sz="1400" dirty="0"/>
          </a:p>
        </p:txBody>
      </p:sp>
      <p:sp>
        <p:nvSpPr>
          <p:cNvPr id="5" name="Text 3"/>
          <p:cNvSpPr/>
          <p:nvPr/>
        </p:nvSpPr>
        <p:spPr>
          <a:xfrm>
            <a:off x="548640" y="2148840"/>
            <a:ext cx="5120640" cy="320040"/>
          </a:xfrm>
          <a:prstGeom prst="rect">
            <a:avLst/>
          </a:prstGeom>
          <a:noFill/>
          <a:ln/>
        </p:spPr>
        <p:txBody>
          <a:bodyPr wrap="square" lIns="0" tIns="0" rIns="0" bIns="0" rtlCol="0" anchor="ctr"/>
          <a:lstStyle/>
          <a:p>
            <a:pPr indent="0" marL="0">
              <a:buNone/>
            </a:pPr>
            <a:r>
              <a:rPr lang="en-US" sz="1300" b="1" spc="100" kern="0" dirty="0">
                <a:solidFill>
                  <a:srgbClr val="E8A33D"/>
                </a:solidFill>
                <a:latin typeface="Calibri" pitchFamily="34" charset="0"/>
                <a:ea typeface="Calibri" pitchFamily="34" charset="-122"/>
                <a:cs typeface="Calibri" pitchFamily="34" charset="-120"/>
              </a:rPr>
              <a:t>What changed</a:t>
            </a:r>
            <a:endParaRPr lang="en-US" sz="1300" dirty="0"/>
          </a:p>
        </p:txBody>
      </p:sp>
      <p:sp>
        <p:nvSpPr>
          <p:cNvPr id="6" name="Shape 4"/>
          <p:cNvSpPr/>
          <p:nvPr/>
        </p:nvSpPr>
        <p:spPr>
          <a:xfrm>
            <a:off x="548640" y="2514600"/>
            <a:ext cx="5349240" cy="868680"/>
          </a:xfrm>
          <a:prstGeom prst="roundRect">
            <a:avLst>
              <a:gd name="adj" fmla="val 8421"/>
            </a:avLst>
          </a:prstGeom>
          <a:solidFill>
            <a:srgbClr val="F2F5FC"/>
          </a:solidFill>
          <a:ln/>
        </p:spPr>
      </p:sp>
      <p:sp>
        <p:nvSpPr>
          <p:cNvPr id="7" name="Text 5"/>
          <p:cNvSpPr/>
          <p:nvPr/>
        </p:nvSpPr>
        <p:spPr>
          <a:xfrm>
            <a:off x="777240" y="2606040"/>
            <a:ext cx="4892040" cy="274320"/>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Screen elements moved</a:t>
            </a:r>
            <a:endParaRPr lang="en-US" sz="1250" dirty="0"/>
          </a:p>
        </p:txBody>
      </p:sp>
      <p:sp>
        <p:nvSpPr>
          <p:cNvPr id="8" name="Text 6"/>
          <p:cNvSpPr/>
          <p:nvPr/>
        </p:nvSpPr>
        <p:spPr>
          <a:xfrm>
            <a:off x="777240" y="2880360"/>
            <a:ext cx="4892040" cy="457200"/>
          </a:xfrm>
          <a:prstGeom prst="rect">
            <a:avLst/>
          </a:prstGeom>
          <a:noFill/>
          <a:ln/>
        </p:spPr>
        <p:txBody>
          <a:bodyPr wrap="square" lIns="0" tIns="0" rIns="0" bIns="0" rtlCol="0" anchor="ctr"/>
          <a:lstStyle/>
          <a:p>
            <a:pPr indent="0" marL="0">
              <a:buNone/>
            </a:pPr>
            <a:r>
              <a:rPr lang="en-US" sz="1050" dirty="0">
                <a:solidFill>
                  <a:srgbClr val="5A6472"/>
                </a:solidFill>
                <a:latin typeface="Calibri" pitchFamily="34" charset="0"/>
                <a:ea typeface="Calibri" pitchFamily="34" charset="-122"/>
                <a:cs typeface="Calibri" pitchFamily="34" charset="-120"/>
              </a:rPr>
              <a:t>Some buttons and fields were moved or renamed, so scripts look in the old place.</a:t>
            </a:r>
            <a:endParaRPr lang="en-US" sz="1050" dirty="0"/>
          </a:p>
        </p:txBody>
      </p:sp>
      <p:sp>
        <p:nvSpPr>
          <p:cNvPr id="9" name="Shape 7"/>
          <p:cNvSpPr/>
          <p:nvPr/>
        </p:nvSpPr>
        <p:spPr>
          <a:xfrm>
            <a:off x="548640" y="3474720"/>
            <a:ext cx="5349240" cy="868680"/>
          </a:xfrm>
          <a:prstGeom prst="roundRect">
            <a:avLst>
              <a:gd name="adj" fmla="val 8421"/>
            </a:avLst>
          </a:prstGeom>
          <a:solidFill>
            <a:srgbClr val="F2F5FC"/>
          </a:solidFill>
          <a:ln/>
        </p:spPr>
      </p:sp>
      <p:sp>
        <p:nvSpPr>
          <p:cNvPr id="10" name="Text 8"/>
          <p:cNvSpPr/>
          <p:nvPr/>
        </p:nvSpPr>
        <p:spPr>
          <a:xfrm>
            <a:off x="777240" y="3566160"/>
            <a:ext cx="4892040" cy="274320"/>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Upload / download timing</a:t>
            </a:r>
            <a:endParaRPr lang="en-US" sz="1250" dirty="0"/>
          </a:p>
        </p:txBody>
      </p:sp>
      <p:sp>
        <p:nvSpPr>
          <p:cNvPr id="11" name="Text 9"/>
          <p:cNvSpPr/>
          <p:nvPr/>
        </p:nvSpPr>
        <p:spPr>
          <a:xfrm>
            <a:off x="777240" y="3840480"/>
            <a:ext cx="4892040" cy="457200"/>
          </a:xfrm>
          <a:prstGeom prst="rect">
            <a:avLst/>
          </a:prstGeom>
          <a:noFill/>
          <a:ln/>
        </p:spPr>
        <p:txBody>
          <a:bodyPr wrap="square" lIns="0" tIns="0" rIns="0" bIns="0" rtlCol="0" anchor="ctr"/>
          <a:lstStyle/>
          <a:p>
            <a:pPr indent="0" marL="0">
              <a:buNone/>
            </a:pPr>
            <a:r>
              <a:rPr lang="en-US" sz="1050" dirty="0">
                <a:solidFill>
                  <a:srgbClr val="5A6472"/>
                </a:solidFill>
                <a:latin typeface="Calibri" pitchFamily="34" charset="0"/>
                <a:ea typeface="Calibri" pitchFamily="34" charset="-122"/>
                <a:cs typeface="Calibri" pitchFamily="34" charset="-120"/>
              </a:rPr>
              <a:t>Files now take a different time; the old fixed waits no longer line up.</a:t>
            </a:r>
            <a:endParaRPr lang="en-US" sz="1050" dirty="0"/>
          </a:p>
        </p:txBody>
      </p:sp>
      <p:sp>
        <p:nvSpPr>
          <p:cNvPr id="12" name="Shape 10"/>
          <p:cNvSpPr/>
          <p:nvPr/>
        </p:nvSpPr>
        <p:spPr>
          <a:xfrm>
            <a:off x="548640" y="4434840"/>
            <a:ext cx="5349240" cy="868680"/>
          </a:xfrm>
          <a:prstGeom prst="roundRect">
            <a:avLst>
              <a:gd name="adj" fmla="val 8421"/>
            </a:avLst>
          </a:prstGeom>
          <a:solidFill>
            <a:srgbClr val="F2F5FC"/>
          </a:solidFill>
          <a:ln/>
        </p:spPr>
      </p:sp>
      <p:sp>
        <p:nvSpPr>
          <p:cNvPr id="13" name="Text 11"/>
          <p:cNvSpPr/>
          <p:nvPr/>
        </p:nvSpPr>
        <p:spPr>
          <a:xfrm>
            <a:off x="777240" y="4526280"/>
            <a:ext cx="4892040" cy="274320"/>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Pages refresh differently</a:t>
            </a:r>
            <a:endParaRPr lang="en-US" sz="1250" dirty="0"/>
          </a:p>
        </p:txBody>
      </p:sp>
      <p:sp>
        <p:nvSpPr>
          <p:cNvPr id="14" name="Text 12"/>
          <p:cNvSpPr/>
          <p:nvPr/>
        </p:nvSpPr>
        <p:spPr>
          <a:xfrm>
            <a:off x="777240" y="4800600"/>
            <a:ext cx="4892040" cy="457200"/>
          </a:xfrm>
          <a:prstGeom prst="rect">
            <a:avLst/>
          </a:prstGeom>
          <a:noFill/>
          <a:ln/>
        </p:spPr>
        <p:txBody>
          <a:bodyPr wrap="square" lIns="0" tIns="0" rIns="0" bIns="0" rtlCol="0" anchor="ctr"/>
          <a:lstStyle/>
          <a:p>
            <a:pPr indent="0" marL="0">
              <a:buNone/>
            </a:pPr>
            <a:r>
              <a:rPr lang="en-US" sz="1050" dirty="0">
                <a:solidFill>
                  <a:srgbClr val="5A6472"/>
                </a:solidFill>
                <a:latin typeface="Calibri" pitchFamily="34" charset="0"/>
                <a:ea typeface="Calibri" pitchFamily="34" charset="-122"/>
                <a:cs typeface="Calibri" pitchFamily="34" charset="-120"/>
              </a:rPr>
              <a:t>Some pages reload in a new way, and scripts lose track of the page.</a:t>
            </a:r>
            <a:endParaRPr lang="en-US" sz="1050" dirty="0"/>
          </a:p>
        </p:txBody>
      </p:sp>
      <p:sp>
        <p:nvSpPr>
          <p:cNvPr id="15" name="Text 13"/>
          <p:cNvSpPr/>
          <p:nvPr/>
        </p:nvSpPr>
        <p:spPr>
          <a:xfrm>
            <a:off x="6309360" y="2148840"/>
            <a:ext cx="5120640" cy="320040"/>
          </a:xfrm>
          <a:prstGeom prst="rect">
            <a:avLst/>
          </a:prstGeom>
          <a:noFill/>
          <a:ln/>
        </p:spPr>
        <p:txBody>
          <a:bodyPr wrap="square" lIns="0" tIns="0" rIns="0" bIns="0" rtlCol="0" anchor="ctr"/>
          <a:lstStyle/>
          <a:p>
            <a:pPr indent="0" marL="0">
              <a:buNone/>
            </a:pPr>
            <a:r>
              <a:rPr lang="en-US" sz="1300" b="1" spc="100" kern="0" dirty="0">
                <a:solidFill>
                  <a:srgbClr val="E8A33D"/>
                </a:solidFill>
                <a:latin typeface="Calibri" pitchFamily="34" charset="0"/>
                <a:ea typeface="Calibri" pitchFamily="34" charset="-122"/>
                <a:cs typeface="Calibri" pitchFamily="34" charset="-120"/>
              </a:rPr>
              <a:t>How we fix it</a:t>
            </a:r>
            <a:endParaRPr lang="en-US" sz="1300" dirty="0"/>
          </a:p>
        </p:txBody>
      </p:sp>
      <p:sp>
        <p:nvSpPr>
          <p:cNvPr id="16" name="Text 14"/>
          <p:cNvSpPr/>
          <p:nvPr/>
        </p:nvSpPr>
        <p:spPr>
          <a:xfrm>
            <a:off x="6309360" y="2532888"/>
            <a:ext cx="365760" cy="457200"/>
          </a:xfrm>
          <a:prstGeom prst="rect">
            <a:avLst/>
          </a:prstGeom>
          <a:noFill/>
          <a:ln/>
        </p:spPr>
        <p:txBody>
          <a:bodyPr wrap="square" lIns="0" tIns="0" rIns="0" bIns="0" rtlCol="0" anchor="ctr"/>
          <a:lstStyle/>
          <a:p>
            <a:pPr indent="0" marL="0">
              <a:buNone/>
            </a:pPr>
            <a:r>
              <a:rPr lang="en-US" sz="2000" b="1" dirty="0">
                <a:solidFill>
                  <a:srgbClr val="E8A33D"/>
                </a:solidFill>
                <a:latin typeface="Cambria" pitchFamily="34" charset="0"/>
                <a:ea typeface="Cambria" pitchFamily="34" charset="-122"/>
                <a:cs typeface="Cambria" pitchFamily="34" charset="-120"/>
              </a:rPr>
              <a:t>1</a:t>
            </a:r>
            <a:endParaRPr lang="en-US" sz="2000" dirty="0"/>
          </a:p>
        </p:txBody>
      </p:sp>
      <p:sp>
        <p:nvSpPr>
          <p:cNvPr id="17" name="Text 15"/>
          <p:cNvSpPr/>
          <p:nvPr/>
        </p:nvSpPr>
        <p:spPr>
          <a:xfrm>
            <a:off x="6720840" y="2514600"/>
            <a:ext cx="4892040" cy="713232"/>
          </a:xfrm>
          <a:prstGeom prst="rect">
            <a:avLst/>
          </a:prstGeom>
          <a:noFill/>
          <a:ln/>
        </p:spPr>
        <p:txBody>
          <a:bodyPr wrap="square" lIns="0" tIns="0" rIns="0" bIns="0"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Fix locally.  </a:t>
            </a:r>
            <a:pPr indent="0" marL="0">
              <a:buNone/>
            </a:pPr>
            <a:r>
              <a:rPr lang="en-US" sz="1050" dirty="0">
                <a:solidFill>
                  <a:srgbClr val="5A6472"/>
                </a:solidFill>
                <a:latin typeface="Calibri" pitchFamily="34" charset="0"/>
                <a:ea typeface="Calibri" pitchFamily="34" charset="-122"/>
                <a:cs typeface="Calibri" pitchFamily="34" charset="-120"/>
              </a:rPr>
              <a:t>Each engineer fixes and checks each feature on their own machine, with a report for each.</a:t>
            </a:r>
            <a:endParaRPr lang="en-US" sz="1050" dirty="0"/>
          </a:p>
        </p:txBody>
      </p:sp>
      <p:sp>
        <p:nvSpPr>
          <p:cNvPr id="18" name="Text 16"/>
          <p:cNvSpPr/>
          <p:nvPr/>
        </p:nvSpPr>
        <p:spPr>
          <a:xfrm>
            <a:off x="6309360" y="3291840"/>
            <a:ext cx="365760" cy="457200"/>
          </a:xfrm>
          <a:prstGeom prst="rect">
            <a:avLst/>
          </a:prstGeom>
          <a:noFill/>
          <a:ln/>
        </p:spPr>
        <p:txBody>
          <a:bodyPr wrap="square" lIns="0" tIns="0" rIns="0" bIns="0" rtlCol="0" anchor="ctr"/>
          <a:lstStyle/>
          <a:p>
            <a:pPr indent="0" marL="0">
              <a:buNone/>
            </a:pPr>
            <a:r>
              <a:rPr lang="en-US" sz="2000" b="1" dirty="0">
                <a:solidFill>
                  <a:srgbClr val="E8A33D"/>
                </a:solidFill>
                <a:latin typeface="Cambria" pitchFamily="34" charset="0"/>
                <a:ea typeface="Cambria" pitchFamily="34" charset="-122"/>
                <a:cs typeface="Cambria" pitchFamily="34" charset="-120"/>
              </a:rPr>
              <a:t>2</a:t>
            </a:r>
            <a:endParaRPr lang="en-US" sz="2000" dirty="0"/>
          </a:p>
        </p:txBody>
      </p:sp>
      <p:sp>
        <p:nvSpPr>
          <p:cNvPr id="19" name="Text 17"/>
          <p:cNvSpPr/>
          <p:nvPr/>
        </p:nvSpPr>
        <p:spPr>
          <a:xfrm>
            <a:off x="6720840" y="3273552"/>
            <a:ext cx="4892040" cy="713232"/>
          </a:xfrm>
          <a:prstGeom prst="rect">
            <a:avLst/>
          </a:prstGeom>
          <a:noFill/>
          <a:ln/>
        </p:spPr>
        <p:txBody>
          <a:bodyPr wrap="square" lIns="0" tIns="0" rIns="0" bIns="0"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Merge &amp; test together.  </a:t>
            </a:r>
            <a:pPr indent="0" marL="0">
              <a:buNone/>
            </a:pPr>
            <a:r>
              <a:rPr lang="en-US" sz="1050" dirty="0">
                <a:solidFill>
                  <a:srgbClr val="5A6472"/>
                </a:solidFill>
                <a:latin typeface="Calibri" pitchFamily="34" charset="0"/>
                <a:ea typeface="Calibri" pitchFamily="34" charset="-122"/>
                <a:cs typeface="Calibri" pitchFamily="34" charset="-120"/>
              </a:rPr>
              <a:t>Fixes go to a shared branch; we run features alone and together to confirm they still work in combination.</a:t>
            </a:r>
            <a:endParaRPr lang="en-US" sz="1050" dirty="0"/>
          </a:p>
        </p:txBody>
      </p:sp>
      <p:sp>
        <p:nvSpPr>
          <p:cNvPr id="20" name="Text 18"/>
          <p:cNvSpPr/>
          <p:nvPr/>
        </p:nvSpPr>
        <p:spPr>
          <a:xfrm>
            <a:off x="6309360" y="4050792"/>
            <a:ext cx="365760" cy="457200"/>
          </a:xfrm>
          <a:prstGeom prst="rect">
            <a:avLst/>
          </a:prstGeom>
          <a:noFill/>
          <a:ln/>
        </p:spPr>
        <p:txBody>
          <a:bodyPr wrap="square" lIns="0" tIns="0" rIns="0" bIns="0" rtlCol="0" anchor="ctr"/>
          <a:lstStyle/>
          <a:p>
            <a:pPr indent="0" marL="0">
              <a:buNone/>
            </a:pPr>
            <a:r>
              <a:rPr lang="en-US" sz="2000" b="1" dirty="0">
                <a:solidFill>
                  <a:srgbClr val="E8A33D"/>
                </a:solidFill>
                <a:latin typeface="Cambria" pitchFamily="34" charset="0"/>
                <a:ea typeface="Cambria" pitchFamily="34" charset="-122"/>
                <a:cs typeface="Cambria" pitchFamily="34" charset="-120"/>
              </a:rPr>
              <a:t>3</a:t>
            </a:r>
            <a:endParaRPr lang="en-US" sz="2000" dirty="0"/>
          </a:p>
        </p:txBody>
      </p:sp>
      <p:sp>
        <p:nvSpPr>
          <p:cNvPr id="21" name="Text 19"/>
          <p:cNvSpPr/>
          <p:nvPr/>
        </p:nvSpPr>
        <p:spPr>
          <a:xfrm>
            <a:off x="6720840" y="4032504"/>
            <a:ext cx="4892040" cy="713232"/>
          </a:xfrm>
          <a:prstGeom prst="rect">
            <a:avLst/>
          </a:prstGeom>
          <a:noFill/>
          <a:ln/>
        </p:spPr>
        <p:txBody>
          <a:bodyPr wrap="square" lIns="0" tIns="0" rIns="0" bIns="0"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Final integration.  </a:t>
            </a:r>
            <a:pPr indent="0" marL="0">
              <a:buNone/>
            </a:pPr>
            <a:r>
              <a:rPr lang="en-US" sz="1050" dirty="0">
                <a:solidFill>
                  <a:srgbClr val="5A6472"/>
                </a:solidFill>
                <a:latin typeface="Calibri" pitchFamily="34" charset="0"/>
                <a:ea typeface="Calibri" pitchFamily="34" charset="-122"/>
                <a:cs typeface="Calibri" pitchFamily="34" charset="-120"/>
              </a:rPr>
              <a:t>Once stable, everything merges into the branch our scheduled runs use.</a:t>
            </a:r>
            <a:endParaRPr lang="en-US" sz="1050" dirty="0"/>
          </a:p>
        </p:txBody>
      </p:sp>
      <p:sp>
        <p:nvSpPr>
          <p:cNvPr id="22" name="Text 20"/>
          <p:cNvSpPr/>
          <p:nvPr/>
        </p:nvSpPr>
        <p:spPr>
          <a:xfrm>
            <a:off x="6309360" y="4809744"/>
            <a:ext cx="365760" cy="457200"/>
          </a:xfrm>
          <a:prstGeom prst="rect">
            <a:avLst/>
          </a:prstGeom>
          <a:noFill/>
          <a:ln/>
        </p:spPr>
        <p:txBody>
          <a:bodyPr wrap="square" lIns="0" tIns="0" rIns="0" bIns="0" rtlCol="0" anchor="ctr"/>
          <a:lstStyle/>
          <a:p>
            <a:pPr indent="0" marL="0">
              <a:buNone/>
            </a:pPr>
            <a:r>
              <a:rPr lang="en-US" sz="2000" b="1" dirty="0">
                <a:solidFill>
                  <a:srgbClr val="E8A33D"/>
                </a:solidFill>
                <a:latin typeface="Cambria" pitchFamily="34" charset="0"/>
                <a:ea typeface="Cambria" pitchFamily="34" charset="-122"/>
                <a:cs typeface="Cambria" pitchFamily="34" charset="-120"/>
              </a:rPr>
              <a:t>4</a:t>
            </a:r>
            <a:endParaRPr lang="en-US" sz="2000" dirty="0"/>
          </a:p>
        </p:txBody>
      </p:sp>
      <p:sp>
        <p:nvSpPr>
          <p:cNvPr id="23" name="Text 21"/>
          <p:cNvSpPr/>
          <p:nvPr/>
        </p:nvSpPr>
        <p:spPr>
          <a:xfrm>
            <a:off x="6720840" y="4791456"/>
            <a:ext cx="4892040" cy="713232"/>
          </a:xfrm>
          <a:prstGeom prst="rect">
            <a:avLst/>
          </a:prstGeom>
          <a:noFill/>
          <a:ln/>
        </p:spPr>
        <p:txBody>
          <a:bodyPr wrap="square" lIns="0" tIns="0" rIns="0" bIns="0"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Verify on Jenkins.  </a:t>
            </a:r>
            <a:pPr indent="0" marL="0">
              <a:buNone/>
            </a:pPr>
            <a:r>
              <a:rPr lang="en-US" sz="1050" dirty="0">
                <a:solidFill>
                  <a:srgbClr val="5A6472"/>
                </a:solidFill>
                <a:latin typeface="Calibri" pitchFamily="34" charset="0"/>
                <a:ea typeface="Calibri" pitchFamily="34" charset="-122"/>
                <a:cs typeface="Calibri" pitchFamily="34" charset="-120"/>
              </a:rPr>
              <a:t>We confirm a clean run on the shared server — so tests run automatically on every build, with no one starting them by hand.</a:t>
            </a:r>
            <a:endParaRPr lang="en-US" sz="1050" dirty="0"/>
          </a:p>
        </p:txBody>
      </p:sp>
      <p:sp>
        <p:nvSpPr>
          <p:cNvPr id="24" name="Shape 22"/>
          <p:cNvSpPr/>
          <p:nvPr/>
        </p:nvSpPr>
        <p:spPr>
          <a:xfrm>
            <a:off x="548640" y="5806440"/>
            <a:ext cx="11091672" cy="640080"/>
          </a:xfrm>
          <a:prstGeom prst="roundRect">
            <a:avLst>
              <a:gd name="adj" fmla="val 11429"/>
            </a:avLst>
          </a:prstGeom>
          <a:solidFill>
            <a:srgbClr val="1E2761"/>
          </a:solidFill>
          <a:ln/>
        </p:spPr>
      </p:sp>
      <p:sp>
        <p:nvSpPr>
          <p:cNvPr id="25" name="Text 23"/>
          <p:cNvSpPr/>
          <p:nvPr/>
        </p:nvSpPr>
        <p:spPr>
          <a:xfrm>
            <a:off x="914400" y="5943600"/>
            <a:ext cx="10378440" cy="384048"/>
          </a:xfrm>
          <a:prstGeom prst="rect">
            <a:avLst/>
          </a:prstGeom>
          <a:noFill/>
          <a:ln/>
        </p:spPr>
        <p:txBody>
          <a:bodyPr wrap="square" lIns="0" tIns="0" rIns="0" bIns="0" rtlCol="0" anchor="ctr"/>
          <a:lstStyle/>
          <a:p>
            <a:pPr indent="0" marL="0">
              <a:buNone/>
            </a:pPr>
            <a:r>
              <a:rPr lang="en-US" sz="1250" b="1" dirty="0">
                <a:solidFill>
                  <a:srgbClr val="E8A33D"/>
                </a:solidFill>
                <a:latin typeface="Calibri" pitchFamily="34" charset="0"/>
                <a:ea typeface="Calibri" pitchFamily="34" charset="-122"/>
                <a:cs typeface="Calibri" pitchFamily="34" charset="-120"/>
              </a:rPr>
              <a:t>Tracked throughout:  </a:t>
            </a:r>
            <a:pPr indent="0" marL="0">
              <a:buNone/>
            </a:pPr>
            <a:r>
              <a:rPr lang="en-US" sz="1250" dirty="0">
                <a:solidFill>
                  <a:srgbClr val="FFFFFF"/>
                </a:solidFill>
                <a:latin typeface="Calibri" pitchFamily="34" charset="0"/>
                <a:ea typeface="Calibri" pitchFamily="34" charset="-122"/>
                <a:cs typeface="Calibri" pitchFamily="34" charset="-120"/>
              </a:rPr>
              <a:t>each feature has its own fix story with a live status, backed by a shared sheet logging every failure, its cause, and where it stands.</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THE PLAN</a:t>
            </a:r>
            <a:endParaRPr lang="en-US" sz="12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Making the Suite Stronger Than Before</a:t>
            </a:r>
            <a:endParaRPr lang="en-US" sz="3200" dirty="0"/>
          </a:p>
        </p:txBody>
      </p:sp>
      <p:sp>
        <p:nvSpPr>
          <p:cNvPr id="4" name="Text 2"/>
          <p:cNvSpPr/>
          <p:nvPr/>
        </p:nvSpPr>
        <p:spPr>
          <a:xfrm>
            <a:off x="548640" y="1371600"/>
            <a:ext cx="11064240" cy="640080"/>
          </a:xfrm>
          <a:prstGeom prst="rect">
            <a:avLst/>
          </a:prstGeom>
          <a:noFill/>
          <a:ln/>
        </p:spPr>
        <p:txBody>
          <a:bodyPr wrap="square" lIns="0" tIns="0" rIns="0" bIns="0" rtlCol="0" anchor="ctr"/>
          <a:lstStyle/>
          <a:p>
            <a:pPr indent="0" marL="0">
              <a:buNone/>
            </a:pPr>
            <a:r>
              <a:rPr lang="en-US" sz="1450" dirty="0">
                <a:solidFill>
                  <a:srgbClr val="23272F"/>
                </a:solidFill>
                <a:latin typeface="Calibri" pitchFamily="34" charset="0"/>
                <a:ea typeface="Calibri" pitchFamily="34" charset="-122"/>
                <a:cs typeface="Calibri" pitchFamily="34" charset="-120"/>
              </a:rPr>
              <a:t>Alongside the fixes, we have prepared four improvements that make the automation more stable and easier to maintain going forward. All four are already scoped by the team.</a:t>
            </a:r>
            <a:endParaRPr lang="en-US" sz="1450" dirty="0"/>
          </a:p>
        </p:txBody>
      </p:sp>
      <p:sp>
        <p:nvSpPr>
          <p:cNvPr id="5" name="Shape 3"/>
          <p:cNvSpPr/>
          <p:nvPr/>
        </p:nvSpPr>
        <p:spPr>
          <a:xfrm>
            <a:off x="548640" y="2194560"/>
            <a:ext cx="5394960" cy="1783080"/>
          </a:xfrm>
          <a:prstGeom prst="roundRect">
            <a:avLst>
              <a:gd name="adj" fmla="val 4615"/>
            </a:avLst>
          </a:prstGeom>
          <a:solidFill>
            <a:srgbClr val="F2F5FC"/>
          </a:solidFill>
          <a:ln/>
        </p:spPr>
      </p:sp>
      <p:sp>
        <p:nvSpPr>
          <p:cNvPr id="6" name="Shape 4"/>
          <p:cNvSpPr/>
          <p:nvPr/>
        </p:nvSpPr>
        <p:spPr>
          <a:xfrm>
            <a:off x="822960" y="2468880"/>
            <a:ext cx="548640" cy="548640"/>
          </a:xfrm>
          <a:prstGeom prst="ellipse">
            <a:avLst/>
          </a:prstGeom>
          <a:solidFill>
            <a:srgbClr val="1E2761"/>
          </a:solidFill>
          <a:ln/>
        </p:spPr>
      </p:sp>
      <p:pic>
        <p:nvPicPr>
          <p:cNvPr id="7" name="Image 0" descr="preencoded.png">    </p:cNvPr>
          <p:cNvPicPr>
            <a:picLocks noChangeAspect="1"/>
          </p:cNvPicPr>
          <p:nvPr/>
        </p:nvPicPr>
        <p:blipFill>
          <a:blip r:embed="rId1"/>
          <a:stretch>
            <a:fillRect/>
          </a:stretch>
        </p:blipFill>
        <p:spPr>
          <a:xfrm>
            <a:off x="954634" y="2600554"/>
            <a:ext cx="285293" cy="285293"/>
          </a:xfrm>
          <a:prstGeom prst="rect">
            <a:avLst/>
          </a:prstGeom>
        </p:spPr>
      </p:pic>
      <p:sp>
        <p:nvSpPr>
          <p:cNvPr id="8" name="Text 5"/>
          <p:cNvSpPr/>
          <p:nvPr/>
        </p:nvSpPr>
        <p:spPr>
          <a:xfrm>
            <a:off x="1600200" y="2487168"/>
            <a:ext cx="4114800" cy="41148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Upgrade to Selenium 4.4</a:t>
            </a:r>
            <a:endParaRPr lang="en-US" sz="1500" dirty="0"/>
          </a:p>
        </p:txBody>
      </p:sp>
      <p:sp>
        <p:nvSpPr>
          <p:cNvPr id="9" name="Text 6"/>
          <p:cNvSpPr/>
          <p:nvPr/>
        </p:nvSpPr>
        <p:spPr>
          <a:xfrm>
            <a:off x="822960" y="3108960"/>
            <a:ext cx="4846320" cy="777240"/>
          </a:xfrm>
          <a:prstGeom prst="rect">
            <a:avLst/>
          </a:prstGeom>
          <a:noFill/>
          <a:ln/>
        </p:spPr>
        <p:txBody>
          <a:bodyPr wrap="square" lIns="0" tIns="0" rIns="0" bIns="0" rtlCol="0" anchor="ctr"/>
          <a:lstStyle/>
          <a:p>
            <a:pPr indent="0" marL="0">
              <a:buNone/>
            </a:pPr>
            <a:r>
              <a:rPr lang="en-US" sz="1100" dirty="0">
                <a:solidFill>
                  <a:srgbClr val="5A6472"/>
                </a:solidFill>
                <a:latin typeface="Calibri" pitchFamily="34" charset="0"/>
                <a:ea typeface="Calibri" pitchFamily="34" charset="-122"/>
                <a:cs typeface="Calibri" pitchFamily="34" charset="-120"/>
              </a:rPr>
              <a:t>Moving to the current version of our test tool — more stable, better support for today's browsers, and the latest security fixes. Our older version is now behind, which adds avoidable flakiness.</a:t>
            </a:r>
            <a:endParaRPr lang="en-US" sz="1100" dirty="0"/>
          </a:p>
        </p:txBody>
      </p:sp>
      <p:sp>
        <p:nvSpPr>
          <p:cNvPr id="10" name="Shape 7"/>
          <p:cNvSpPr/>
          <p:nvPr/>
        </p:nvSpPr>
        <p:spPr>
          <a:xfrm>
            <a:off x="6245352" y="2194560"/>
            <a:ext cx="5394960" cy="1783080"/>
          </a:xfrm>
          <a:prstGeom prst="roundRect">
            <a:avLst>
              <a:gd name="adj" fmla="val 4615"/>
            </a:avLst>
          </a:prstGeom>
          <a:solidFill>
            <a:srgbClr val="F2F5FC"/>
          </a:solidFill>
          <a:ln/>
        </p:spPr>
      </p:sp>
      <p:sp>
        <p:nvSpPr>
          <p:cNvPr id="11" name="Shape 8"/>
          <p:cNvSpPr/>
          <p:nvPr/>
        </p:nvSpPr>
        <p:spPr>
          <a:xfrm>
            <a:off x="6519672" y="2468880"/>
            <a:ext cx="548640" cy="548640"/>
          </a:xfrm>
          <a:prstGeom prst="ellipse">
            <a:avLst/>
          </a:prstGeom>
          <a:solidFill>
            <a:srgbClr val="1E2761"/>
          </a:solidFill>
          <a:ln/>
        </p:spPr>
      </p:sp>
      <p:pic>
        <p:nvPicPr>
          <p:cNvPr id="12" name="Image 1" descr="preencoded.png">    </p:cNvPr>
          <p:cNvPicPr>
            <a:picLocks noChangeAspect="1"/>
          </p:cNvPicPr>
          <p:nvPr/>
        </p:nvPicPr>
        <p:blipFill>
          <a:blip r:embed="rId2"/>
          <a:stretch>
            <a:fillRect/>
          </a:stretch>
        </p:blipFill>
        <p:spPr>
          <a:xfrm>
            <a:off x="6651346" y="2600554"/>
            <a:ext cx="285293" cy="285293"/>
          </a:xfrm>
          <a:prstGeom prst="rect">
            <a:avLst/>
          </a:prstGeom>
        </p:spPr>
      </p:pic>
      <p:sp>
        <p:nvSpPr>
          <p:cNvPr id="13" name="Text 9"/>
          <p:cNvSpPr/>
          <p:nvPr/>
        </p:nvSpPr>
        <p:spPr>
          <a:xfrm>
            <a:off x="7296912" y="2487168"/>
            <a:ext cx="4114800" cy="41148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Support both login types</a:t>
            </a:r>
            <a:endParaRPr lang="en-US" sz="1500" dirty="0"/>
          </a:p>
        </p:txBody>
      </p:sp>
      <p:sp>
        <p:nvSpPr>
          <p:cNvPr id="14" name="Text 10"/>
          <p:cNvSpPr/>
          <p:nvPr/>
        </p:nvSpPr>
        <p:spPr>
          <a:xfrm>
            <a:off x="6519672" y="3108960"/>
            <a:ext cx="4846320" cy="777240"/>
          </a:xfrm>
          <a:prstGeom prst="rect">
            <a:avLst/>
          </a:prstGeom>
          <a:noFill/>
          <a:ln/>
        </p:spPr>
        <p:txBody>
          <a:bodyPr wrap="square" lIns="0" tIns="0" rIns="0" bIns="0" rtlCol="0" anchor="ctr"/>
          <a:lstStyle/>
          <a:p>
            <a:pPr indent="0" marL="0">
              <a:buNone/>
            </a:pPr>
            <a:r>
              <a:rPr lang="en-US" sz="1100" dirty="0">
                <a:solidFill>
                  <a:srgbClr val="5A6472"/>
                </a:solidFill>
                <a:latin typeface="Calibri" pitchFamily="34" charset="0"/>
                <a:ea typeface="Calibri" pitchFamily="34" charset="-122"/>
                <a:cs typeface="Calibri" pitchFamily="34" charset="-120"/>
              </a:rPr>
              <a:t>The application now uses Keycloak single sign-on. The suite will handle both the normal login and the new SSO login, switchable by configuration — so tests keep working as login evolves.</a:t>
            </a:r>
            <a:endParaRPr lang="en-US" sz="1100" dirty="0"/>
          </a:p>
        </p:txBody>
      </p:sp>
      <p:sp>
        <p:nvSpPr>
          <p:cNvPr id="15" name="Shape 11"/>
          <p:cNvSpPr/>
          <p:nvPr/>
        </p:nvSpPr>
        <p:spPr>
          <a:xfrm>
            <a:off x="548640" y="4160520"/>
            <a:ext cx="5394960" cy="1783080"/>
          </a:xfrm>
          <a:prstGeom prst="roundRect">
            <a:avLst>
              <a:gd name="adj" fmla="val 4615"/>
            </a:avLst>
          </a:prstGeom>
          <a:solidFill>
            <a:srgbClr val="F2F5FC"/>
          </a:solidFill>
          <a:ln/>
        </p:spPr>
      </p:sp>
      <p:sp>
        <p:nvSpPr>
          <p:cNvPr id="16" name="Shape 12"/>
          <p:cNvSpPr/>
          <p:nvPr/>
        </p:nvSpPr>
        <p:spPr>
          <a:xfrm>
            <a:off x="822960" y="4434840"/>
            <a:ext cx="548640" cy="548640"/>
          </a:xfrm>
          <a:prstGeom prst="ellipse">
            <a:avLst/>
          </a:prstGeom>
          <a:solidFill>
            <a:srgbClr val="1E2761"/>
          </a:solidFill>
          <a:ln/>
        </p:spPr>
      </p:sp>
      <p:pic>
        <p:nvPicPr>
          <p:cNvPr id="17" name="Image 2" descr="preencoded.png">    </p:cNvPr>
          <p:cNvPicPr>
            <a:picLocks noChangeAspect="1"/>
          </p:cNvPicPr>
          <p:nvPr/>
        </p:nvPicPr>
        <p:blipFill>
          <a:blip r:embed="rId3"/>
          <a:stretch>
            <a:fillRect/>
          </a:stretch>
        </p:blipFill>
        <p:spPr>
          <a:xfrm>
            <a:off x="954634" y="4566514"/>
            <a:ext cx="285293" cy="285293"/>
          </a:xfrm>
          <a:prstGeom prst="rect">
            <a:avLst/>
          </a:prstGeom>
        </p:spPr>
      </p:pic>
      <p:sp>
        <p:nvSpPr>
          <p:cNvPr id="18" name="Text 13"/>
          <p:cNvSpPr/>
          <p:nvPr/>
        </p:nvSpPr>
        <p:spPr>
          <a:xfrm>
            <a:off x="1600200" y="4453128"/>
            <a:ext cx="4114800" cy="41148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Remove fixed waits</a:t>
            </a:r>
            <a:endParaRPr lang="en-US" sz="1500" dirty="0"/>
          </a:p>
        </p:txBody>
      </p:sp>
      <p:sp>
        <p:nvSpPr>
          <p:cNvPr id="19" name="Text 14"/>
          <p:cNvSpPr/>
          <p:nvPr/>
        </p:nvSpPr>
        <p:spPr>
          <a:xfrm>
            <a:off x="822960" y="5074920"/>
            <a:ext cx="4846320" cy="777240"/>
          </a:xfrm>
          <a:prstGeom prst="rect">
            <a:avLst/>
          </a:prstGeom>
          <a:noFill/>
          <a:ln/>
        </p:spPr>
        <p:txBody>
          <a:bodyPr wrap="square" lIns="0" tIns="0" rIns="0" bIns="0" rtlCol="0" anchor="ctr"/>
          <a:lstStyle/>
          <a:p>
            <a:pPr indent="0" marL="0">
              <a:buNone/>
            </a:pPr>
            <a:r>
              <a:rPr lang="en-US" sz="1100" dirty="0">
                <a:solidFill>
                  <a:srgbClr val="5A6472"/>
                </a:solidFill>
                <a:latin typeface="Calibri" pitchFamily="34" charset="0"/>
                <a:ea typeface="Calibri" pitchFamily="34" charset="-122"/>
                <a:cs typeface="Calibri" pitchFamily="34" charset="-120"/>
              </a:rPr>
              <a:t>Old scripts pause for a fixed time; we're replacing these with smarter waits that respond to the page. Runs become faster and far more reliable on the shared server.</a:t>
            </a:r>
            <a:endParaRPr lang="en-US" sz="1100" dirty="0"/>
          </a:p>
        </p:txBody>
      </p:sp>
      <p:sp>
        <p:nvSpPr>
          <p:cNvPr id="20" name="Shape 15"/>
          <p:cNvSpPr/>
          <p:nvPr/>
        </p:nvSpPr>
        <p:spPr>
          <a:xfrm>
            <a:off x="6245352" y="4160520"/>
            <a:ext cx="5394960" cy="1783080"/>
          </a:xfrm>
          <a:prstGeom prst="roundRect">
            <a:avLst>
              <a:gd name="adj" fmla="val 4615"/>
            </a:avLst>
          </a:prstGeom>
          <a:solidFill>
            <a:srgbClr val="F2F5FC"/>
          </a:solidFill>
          <a:ln/>
        </p:spPr>
      </p:sp>
      <p:sp>
        <p:nvSpPr>
          <p:cNvPr id="21" name="Shape 16"/>
          <p:cNvSpPr/>
          <p:nvPr/>
        </p:nvSpPr>
        <p:spPr>
          <a:xfrm>
            <a:off x="6519672" y="4434840"/>
            <a:ext cx="548640" cy="548640"/>
          </a:xfrm>
          <a:prstGeom prst="ellipse">
            <a:avLst/>
          </a:prstGeom>
          <a:solidFill>
            <a:srgbClr val="1E2761"/>
          </a:solidFill>
          <a:ln/>
        </p:spPr>
      </p:sp>
      <p:pic>
        <p:nvPicPr>
          <p:cNvPr id="22" name="Image 3" descr="preencoded.png">    </p:cNvPr>
          <p:cNvPicPr>
            <a:picLocks noChangeAspect="1"/>
          </p:cNvPicPr>
          <p:nvPr/>
        </p:nvPicPr>
        <p:blipFill>
          <a:blip r:embed="rId4"/>
          <a:stretch>
            <a:fillRect/>
          </a:stretch>
        </p:blipFill>
        <p:spPr>
          <a:xfrm>
            <a:off x="6651346" y="4566514"/>
            <a:ext cx="285293" cy="285293"/>
          </a:xfrm>
          <a:prstGeom prst="rect">
            <a:avLst/>
          </a:prstGeom>
        </p:spPr>
      </p:pic>
      <p:sp>
        <p:nvSpPr>
          <p:cNvPr id="23" name="Text 17"/>
          <p:cNvSpPr/>
          <p:nvPr/>
        </p:nvSpPr>
        <p:spPr>
          <a:xfrm>
            <a:off x="7296912" y="4453128"/>
            <a:ext cx="4114800" cy="41148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One codebase for versions 1.2 &amp; 1.3</a:t>
            </a:r>
            <a:endParaRPr lang="en-US" sz="1500" dirty="0"/>
          </a:p>
        </p:txBody>
      </p:sp>
      <p:sp>
        <p:nvSpPr>
          <p:cNvPr id="24" name="Text 18"/>
          <p:cNvSpPr/>
          <p:nvPr/>
        </p:nvSpPr>
        <p:spPr>
          <a:xfrm>
            <a:off x="6519672" y="5074920"/>
            <a:ext cx="4846320" cy="777240"/>
          </a:xfrm>
          <a:prstGeom prst="rect">
            <a:avLst/>
          </a:prstGeom>
          <a:noFill/>
          <a:ln/>
        </p:spPr>
        <p:txBody>
          <a:bodyPr wrap="square" lIns="0" tIns="0" rIns="0" bIns="0" rtlCol="0" anchor="ctr"/>
          <a:lstStyle/>
          <a:p>
            <a:pPr indent="0" marL="0">
              <a:buNone/>
            </a:pPr>
            <a:r>
              <a:rPr lang="en-US" sz="1100" dirty="0">
                <a:solidFill>
                  <a:srgbClr val="5A6472"/>
                </a:solidFill>
                <a:latin typeface="Calibri" pitchFamily="34" charset="0"/>
                <a:ea typeface="Calibri" pitchFamily="34" charset="-122"/>
                <a:cs typeface="Calibri" pitchFamily="34" charset="-120"/>
              </a:rPr>
              <a:t>Both versions are live and differ slightly on screen. The suite will support both from a single codebase — so nothing is built or maintained twice.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BACKUP  ·  FOR REFERENCE</a:t>
            </a:r>
            <a:endParaRPr lang="en-US" sz="12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How We Track the Fix</a:t>
            </a:r>
            <a:endParaRPr lang="en-US" sz="3200" dirty="0"/>
          </a:p>
        </p:txBody>
      </p:sp>
      <p:sp>
        <p:nvSpPr>
          <p:cNvPr id="4" name="Text 2"/>
          <p:cNvSpPr/>
          <p:nvPr/>
        </p:nvSpPr>
        <p:spPr>
          <a:xfrm>
            <a:off x="548640" y="1371600"/>
            <a:ext cx="11064240" cy="457200"/>
          </a:xfrm>
          <a:prstGeom prst="rect">
            <a:avLst/>
          </a:prstGeom>
          <a:noFill/>
          <a:ln/>
        </p:spPr>
        <p:txBody>
          <a:bodyPr wrap="square" lIns="0" tIns="0" rIns="0" bIns="0" rtlCol="0" anchor="ctr"/>
          <a:lstStyle/>
          <a:p>
            <a:pPr indent="0" marL="0">
              <a:buNone/>
            </a:pPr>
            <a:r>
              <a:rPr lang="en-US" sz="1450" dirty="0">
                <a:solidFill>
                  <a:srgbClr val="23272F"/>
                </a:solidFill>
                <a:latin typeface="Calibri" pitchFamily="34" charset="0"/>
                <a:ea typeface="Calibri" pitchFamily="34" charset="-122"/>
                <a:cs typeface="Calibri" pitchFamily="34" charset="-120"/>
              </a:rPr>
              <a:t>The stabilization work isn't run informally — it is broken down and tracked so progress is visible at any time.</a:t>
            </a:r>
            <a:endParaRPr lang="en-US" sz="1450" dirty="0"/>
          </a:p>
        </p:txBody>
      </p:sp>
      <p:sp>
        <p:nvSpPr>
          <p:cNvPr id="5" name="Shape 3"/>
          <p:cNvSpPr/>
          <p:nvPr/>
        </p:nvSpPr>
        <p:spPr>
          <a:xfrm>
            <a:off x="548640" y="2011680"/>
            <a:ext cx="5440680" cy="2880360"/>
          </a:xfrm>
          <a:prstGeom prst="roundRect">
            <a:avLst>
              <a:gd name="adj" fmla="val 2857"/>
            </a:avLst>
          </a:prstGeom>
          <a:solidFill>
            <a:srgbClr val="F2F5FC"/>
          </a:solidFill>
          <a:ln/>
        </p:spPr>
      </p:sp>
      <p:sp>
        <p:nvSpPr>
          <p:cNvPr id="6" name="Shape 4"/>
          <p:cNvSpPr/>
          <p:nvPr/>
        </p:nvSpPr>
        <p:spPr>
          <a:xfrm>
            <a:off x="822960" y="2267712"/>
            <a:ext cx="502920" cy="502920"/>
          </a:xfrm>
          <a:prstGeom prst="ellipse">
            <a:avLst/>
          </a:prstGeom>
          <a:solidFill>
            <a:srgbClr val="1E2761"/>
          </a:solidFill>
          <a:ln/>
        </p:spPr>
      </p:sp>
      <p:pic>
        <p:nvPicPr>
          <p:cNvPr id="7" name="Image 0" descr="preencoded.png">    </p:cNvPr>
          <p:cNvPicPr>
            <a:picLocks noChangeAspect="1"/>
          </p:cNvPicPr>
          <p:nvPr/>
        </p:nvPicPr>
        <p:blipFill>
          <a:blip r:embed="rId1"/>
          <a:stretch>
            <a:fillRect/>
          </a:stretch>
        </p:blipFill>
        <p:spPr>
          <a:xfrm>
            <a:off x="943661" y="2388413"/>
            <a:ext cx="261518" cy="261518"/>
          </a:xfrm>
          <a:prstGeom prst="rect">
            <a:avLst/>
          </a:prstGeom>
        </p:spPr>
      </p:pic>
      <p:sp>
        <p:nvSpPr>
          <p:cNvPr id="8" name="Text 5"/>
          <p:cNvSpPr/>
          <p:nvPr/>
        </p:nvSpPr>
        <p:spPr>
          <a:xfrm>
            <a:off x="1463040" y="2322576"/>
            <a:ext cx="4297680" cy="365760"/>
          </a:xfrm>
          <a:prstGeom prst="rect">
            <a:avLst/>
          </a:prstGeom>
          <a:noFill/>
          <a:ln/>
        </p:spPr>
        <p:txBody>
          <a:bodyPr wrap="square" lIns="0" tIns="0" rIns="0" bIns="0" rtlCol="0" anchor="ctr"/>
          <a:lstStyle/>
          <a:p>
            <a:pPr indent="0" marL="0">
              <a:buNone/>
            </a:pPr>
            <a:r>
              <a:rPr lang="en-US" sz="1550" b="1" dirty="0">
                <a:solidFill>
                  <a:srgbClr val="1E2761"/>
                </a:solidFill>
                <a:latin typeface="Calibri" pitchFamily="34" charset="0"/>
                <a:ea typeface="Calibri" pitchFamily="34" charset="-122"/>
                <a:cs typeface="Calibri" pitchFamily="34" charset="-120"/>
              </a:rPr>
              <a:t>A story per feature</a:t>
            </a:r>
            <a:endParaRPr lang="en-US" sz="1550" dirty="0"/>
          </a:p>
        </p:txBody>
      </p:sp>
      <p:sp>
        <p:nvSpPr>
          <p:cNvPr id="9" name="Text 6"/>
          <p:cNvSpPr/>
          <p:nvPr/>
        </p:nvSpPr>
        <p:spPr>
          <a:xfrm>
            <a:off x="868680" y="2971800"/>
            <a:ext cx="4892040" cy="1828800"/>
          </a:xfrm>
          <a:prstGeom prst="rect">
            <a:avLst/>
          </a:prstGeom>
          <a:noFill/>
          <a:ln/>
        </p:spPr>
        <p:txBody>
          <a:bodyPr wrap="square" lIns="0" tIns="0" rIns="0" bIns="0" rtlCol="0" anchor="ctr"/>
          <a:lstStyle/>
          <a:p>
            <a:pPr marL="101600" indent="-101600">
              <a:spcAft>
                <a:spcPts val="800"/>
              </a:spcAft>
              <a:buSzPct val="100000"/>
              <a:buChar char="•"/>
            </a:pPr>
            <a:r>
              <a:rPr lang="en-US" sz="1200" dirty="0">
                <a:solidFill>
                  <a:srgbClr val="5A6472"/>
                </a:solidFill>
                <a:latin typeface="Calibri" pitchFamily="34" charset="0"/>
                <a:ea typeface="Calibri" pitchFamily="34" charset="-122"/>
                <a:cs typeface="Calibri" pitchFamily="34" charset="-120"/>
              </a:rPr>
              <a:t>Every feature that needs fixing has its own individual story.</a:t>
            </a:r>
            <a:endParaRPr lang="en-US" sz="1200" dirty="0"/>
          </a:p>
          <a:p>
            <a:pPr marL="101600" indent="-101600">
              <a:spcAft>
                <a:spcPts val="800"/>
              </a:spcAft>
              <a:buSzPct val="100000"/>
              <a:buChar char="•"/>
            </a:pPr>
            <a:r>
              <a:rPr lang="en-US" sz="1200" dirty="0">
                <a:solidFill>
                  <a:srgbClr val="5A6472"/>
                </a:solidFill>
                <a:latin typeface="Calibri" pitchFamily="34" charset="0"/>
                <a:ea typeface="Calibri" pitchFamily="34" charset="-122"/>
                <a:cs typeface="Calibri" pitchFamily="34" charset="-120"/>
              </a:rPr>
              <a:t>Each story carries a live status, so it's clear what is done, in progress, or pending.</a:t>
            </a:r>
            <a:endParaRPr lang="en-US" sz="1200" dirty="0"/>
          </a:p>
          <a:p>
            <a:pPr marL="101600" indent="-101600">
              <a:spcAft>
                <a:spcPts val="800"/>
              </a:spcAft>
              <a:buSzPct val="100000"/>
              <a:buChar char="•"/>
            </a:pPr>
            <a:r>
              <a:rPr lang="en-US" sz="1200" dirty="0">
                <a:solidFill>
                  <a:srgbClr val="5A6472"/>
                </a:solidFill>
                <a:latin typeface="Calibri" pitchFamily="34" charset="0"/>
                <a:ea typeface="Calibri" pitchFamily="34" charset="-122"/>
                <a:cs typeface="Calibri" pitchFamily="34" charset="-120"/>
              </a:rPr>
              <a:t>Work is divided cleanly across the team — no overlap, nothing missed.</a:t>
            </a:r>
            <a:endParaRPr lang="en-US" sz="1200" dirty="0"/>
          </a:p>
        </p:txBody>
      </p:sp>
      <p:sp>
        <p:nvSpPr>
          <p:cNvPr id="10" name="Shape 7"/>
          <p:cNvSpPr/>
          <p:nvPr/>
        </p:nvSpPr>
        <p:spPr>
          <a:xfrm>
            <a:off x="6199632" y="2011680"/>
            <a:ext cx="5440680" cy="2880360"/>
          </a:xfrm>
          <a:prstGeom prst="roundRect">
            <a:avLst>
              <a:gd name="adj" fmla="val 2857"/>
            </a:avLst>
          </a:prstGeom>
          <a:solidFill>
            <a:srgbClr val="F2F5FC"/>
          </a:solidFill>
          <a:ln/>
        </p:spPr>
      </p:sp>
      <p:sp>
        <p:nvSpPr>
          <p:cNvPr id="11" name="Shape 8"/>
          <p:cNvSpPr/>
          <p:nvPr/>
        </p:nvSpPr>
        <p:spPr>
          <a:xfrm>
            <a:off x="6473952" y="2267712"/>
            <a:ext cx="502920" cy="502920"/>
          </a:xfrm>
          <a:prstGeom prst="ellipse">
            <a:avLst/>
          </a:prstGeom>
          <a:solidFill>
            <a:srgbClr val="1E2761"/>
          </a:solidFill>
          <a:ln/>
        </p:spPr>
      </p:sp>
      <p:pic>
        <p:nvPicPr>
          <p:cNvPr id="12" name="Image 1" descr="preencoded.png">    </p:cNvPr>
          <p:cNvPicPr>
            <a:picLocks noChangeAspect="1"/>
          </p:cNvPicPr>
          <p:nvPr/>
        </p:nvPicPr>
        <p:blipFill>
          <a:blip r:embed="rId2"/>
          <a:stretch>
            <a:fillRect/>
          </a:stretch>
        </p:blipFill>
        <p:spPr>
          <a:xfrm>
            <a:off x="6594653" y="2388413"/>
            <a:ext cx="261518" cy="261518"/>
          </a:xfrm>
          <a:prstGeom prst="rect">
            <a:avLst/>
          </a:prstGeom>
        </p:spPr>
      </p:pic>
      <p:sp>
        <p:nvSpPr>
          <p:cNvPr id="13" name="Text 9"/>
          <p:cNvSpPr/>
          <p:nvPr/>
        </p:nvSpPr>
        <p:spPr>
          <a:xfrm>
            <a:off x="7114032" y="2322576"/>
            <a:ext cx="4297680" cy="365760"/>
          </a:xfrm>
          <a:prstGeom prst="rect">
            <a:avLst/>
          </a:prstGeom>
          <a:noFill/>
          <a:ln/>
        </p:spPr>
        <p:txBody>
          <a:bodyPr wrap="square" lIns="0" tIns="0" rIns="0" bIns="0" rtlCol="0" anchor="ctr"/>
          <a:lstStyle/>
          <a:p>
            <a:pPr indent="0" marL="0">
              <a:buNone/>
            </a:pPr>
            <a:r>
              <a:rPr lang="en-US" sz="1550" b="1" dirty="0">
                <a:solidFill>
                  <a:srgbClr val="1E2761"/>
                </a:solidFill>
                <a:latin typeface="Calibri" pitchFamily="34" charset="0"/>
                <a:ea typeface="Calibri" pitchFamily="34" charset="-122"/>
                <a:cs typeface="Calibri" pitchFamily="34" charset="-120"/>
              </a:rPr>
              <a:t>A shared analysis sheet</a:t>
            </a:r>
            <a:endParaRPr lang="en-US" sz="1550" dirty="0"/>
          </a:p>
        </p:txBody>
      </p:sp>
      <p:sp>
        <p:nvSpPr>
          <p:cNvPr id="14" name="Text 10"/>
          <p:cNvSpPr/>
          <p:nvPr/>
        </p:nvSpPr>
        <p:spPr>
          <a:xfrm>
            <a:off x="6519672" y="2971800"/>
            <a:ext cx="4892040" cy="1828800"/>
          </a:xfrm>
          <a:prstGeom prst="rect">
            <a:avLst/>
          </a:prstGeom>
          <a:noFill/>
          <a:ln/>
        </p:spPr>
        <p:txBody>
          <a:bodyPr wrap="square" lIns="0" tIns="0" rIns="0" bIns="0" rtlCol="0" anchor="ctr"/>
          <a:lstStyle/>
          <a:p>
            <a:pPr marL="101600" indent="-101600">
              <a:spcAft>
                <a:spcPts val="800"/>
              </a:spcAft>
              <a:buSzPct val="100000"/>
              <a:buChar char="•"/>
            </a:pPr>
            <a:r>
              <a:rPr lang="en-US" sz="1200" dirty="0">
                <a:solidFill>
                  <a:srgbClr val="5A6472"/>
                </a:solidFill>
                <a:latin typeface="Calibri" pitchFamily="34" charset="0"/>
                <a:ea typeface="Calibri" pitchFamily="34" charset="-122"/>
                <a:cs typeface="Calibri" pitchFamily="34" charset="-120"/>
              </a:rPr>
              <a:t>Lists every feature that failed after the release.</a:t>
            </a:r>
            <a:endParaRPr lang="en-US" sz="1200" dirty="0"/>
          </a:p>
          <a:p>
            <a:pPr marL="101600" indent="-101600">
              <a:spcAft>
                <a:spcPts val="800"/>
              </a:spcAft>
              <a:buSzPct val="100000"/>
              <a:buChar char="•"/>
            </a:pPr>
            <a:r>
              <a:rPr lang="en-US" sz="1200" dirty="0">
                <a:solidFill>
                  <a:srgbClr val="5A6472"/>
                </a:solidFill>
                <a:latin typeface="Calibri" pitchFamily="34" charset="0"/>
                <a:ea typeface="Calibri" pitchFamily="34" charset="-122"/>
                <a:cs typeface="Calibri" pitchFamily="34" charset="-120"/>
              </a:rPr>
              <a:t>Records why it failed and the analysis behind it.</a:t>
            </a:r>
            <a:endParaRPr lang="en-US" sz="1200" dirty="0"/>
          </a:p>
          <a:p>
            <a:pPr marL="101600" indent="-101600">
              <a:spcAft>
                <a:spcPts val="800"/>
              </a:spcAft>
              <a:buSzPct val="100000"/>
              <a:buChar char="•"/>
            </a:pPr>
            <a:r>
              <a:rPr lang="en-US" sz="1200" dirty="0">
                <a:solidFill>
                  <a:srgbClr val="5A6472"/>
                </a:solidFill>
                <a:latin typeface="Calibri" pitchFamily="34" charset="0"/>
                <a:ea typeface="Calibri" pitchFamily="34" charset="-122"/>
                <a:cs typeface="Calibri" pitchFamily="34" charset="-120"/>
              </a:rPr>
              <a:t>A status column shows where each item stands, updated as work progresses.</a:t>
            </a:r>
            <a:endParaRPr lang="en-US" sz="1200" dirty="0"/>
          </a:p>
        </p:txBody>
      </p:sp>
      <p:sp>
        <p:nvSpPr>
          <p:cNvPr id="15" name="Shape 11"/>
          <p:cNvSpPr/>
          <p:nvPr/>
        </p:nvSpPr>
        <p:spPr>
          <a:xfrm>
            <a:off x="548640" y="5166360"/>
            <a:ext cx="11091672" cy="960120"/>
          </a:xfrm>
          <a:prstGeom prst="roundRect">
            <a:avLst>
              <a:gd name="adj" fmla="val 8571"/>
            </a:avLst>
          </a:prstGeom>
          <a:solidFill>
            <a:srgbClr val="1E2761"/>
          </a:solidFill>
          <a:ln/>
        </p:spPr>
      </p:sp>
      <p:sp>
        <p:nvSpPr>
          <p:cNvPr id="16" name="Text 12"/>
          <p:cNvSpPr/>
          <p:nvPr/>
        </p:nvSpPr>
        <p:spPr>
          <a:xfrm>
            <a:off x="914400" y="5367528"/>
            <a:ext cx="10332720" cy="594360"/>
          </a:xfrm>
          <a:prstGeom prst="rect">
            <a:avLst/>
          </a:prstGeom>
          <a:noFill/>
          <a:ln/>
        </p:spPr>
        <p:txBody>
          <a:bodyPr wrap="square" lIns="0" tIns="0" rIns="0" bIns="0" rtlCol="0" anchor="ctr"/>
          <a:lstStyle/>
          <a:p>
            <a:pPr indent="0" marL="0">
              <a:buNone/>
            </a:pPr>
            <a:r>
              <a:rPr lang="en-US" sz="1450" b="1" dirty="0">
                <a:solidFill>
                  <a:srgbClr val="E8A33D"/>
                </a:solidFill>
                <a:latin typeface="Calibri" pitchFamily="34" charset="0"/>
                <a:ea typeface="Calibri" pitchFamily="34" charset="-122"/>
                <a:cs typeface="Calibri" pitchFamily="34" charset="-120"/>
              </a:rPr>
              <a:t>The point:  </a:t>
            </a:r>
            <a:pPr indent="0" marL="0">
              <a:buNone/>
            </a:pPr>
            <a:r>
              <a:rPr lang="en-US" sz="1450" dirty="0">
                <a:solidFill>
                  <a:srgbClr val="FFFFFF"/>
                </a:solidFill>
                <a:latin typeface="Calibri" pitchFamily="34" charset="0"/>
                <a:ea typeface="Calibri" pitchFamily="34" charset="-122"/>
                <a:cs typeface="Calibri" pitchFamily="34" charset="-120"/>
              </a:rPr>
              <a:t>the fix is organized and measurable — anyone can see, at any moment, which features are recovered and which are still in progress.</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FLAGGING EARLY</a:t>
            </a:r>
            <a:endParaRPr lang="en-US" sz="12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One Risk We Want on the Table Now</a:t>
            </a:r>
            <a:endParaRPr lang="en-US" sz="3200" dirty="0"/>
          </a:p>
        </p:txBody>
      </p:sp>
      <p:sp>
        <p:nvSpPr>
          <p:cNvPr id="4" name="Shape 2"/>
          <p:cNvSpPr/>
          <p:nvPr/>
        </p:nvSpPr>
        <p:spPr>
          <a:xfrm>
            <a:off x="548640" y="1645920"/>
            <a:ext cx="11091672" cy="2286000"/>
          </a:xfrm>
          <a:prstGeom prst="roundRect">
            <a:avLst>
              <a:gd name="adj" fmla="val 3600"/>
            </a:avLst>
          </a:prstGeom>
          <a:solidFill>
            <a:srgbClr val="F2F5FC"/>
          </a:solidFill>
          <a:ln/>
        </p:spPr>
      </p:sp>
      <p:sp>
        <p:nvSpPr>
          <p:cNvPr id="5" name="Shape 3"/>
          <p:cNvSpPr/>
          <p:nvPr/>
        </p:nvSpPr>
        <p:spPr>
          <a:xfrm>
            <a:off x="914400" y="1965960"/>
            <a:ext cx="548640" cy="548640"/>
          </a:xfrm>
          <a:prstGeom prst="ellipse">
            <a:avLst/>
          </a:prstGeom>
          <a:solidFill>
            <a:srgbClr val="E8A33D"/>
          </a:solidFill>
          <a:ln/>
        </p:spPr>
      </p:sp>
      <p:pic>
        <p:nvPicPr>
          <p:cNvPr id="6" name="Image 0" descr="preencoded.png">    </p:cNvPr>
          <p:cNvPicPr>
            <a:picLocks noChangeAspect="1"/>
          </p:cNvPicPr>
          <p:nvPr/>
        </p:nvPicPr>
        <p:blipFill>
          <a:blip r:embed="rId1"/>
          <a:stretch>
            <a:fillRect/>
          </a:stretch>
        </p:blipFill>
        <p:spPr>
          <a:xfrm>
            <a:off x="1046074" y="2097634"/>
            <a:ext cx="285293" cy="285293"/>
          </a:xfrm>
          <a:prstGeom prst="rect">
            <a:avLst/>
          </a:prstGeom>
        </p:spPr>
      </p:pic>
      <p:sp>
        <p:nvSpPr>
          <p:cNvPr id="7" name="Text 4"/>
          <p:cNvSpPr/>
          <p:nvPr/>
        </p:nvSpPr>
        <p:spPr>
          <a:xfrm>
            <a:off x="1691640" y="1965960"/>
            <a:ext cx="9601200" cy="411480"/>
          </a:xfrm>
          <a:prstGeom prst="rect">
            <a:avLst/>
          </a:prstGeom>
          <a:noFill/>
          <a:ln/>
        </p:spPr>
        <p:txBody>
          <a:bodyPr wrap="square" lIns="0" tIns="0" rIns="0" bIns="0" rtlCol="0" anchor="ctr"/>
          <a:lstStyle/>
          <a:p>
            <a:pPr indent="0" marL="0">
              <a:buNone/>
            </a:pPr>
            <a:r>
              <a:rPr lang="en-US" sz="1700" b="1" dirty="0">
                <a:solidFill>
                  <a:srgbClr val="1E2761"/>
                </a:solidFill>
                <a:latin typeface="Calibri" pitchFamily="34" charset="0"/>
                <a:ea typeface="Calibri" pitchFamily="34" charset="-122"/>
                <a:cs typeface="Calibri" pitchFamily="34" charset="-120"/>
              </a:rPr>
              <a:t>A new design system is planned for the application.</a:t>
            </a:r>
            <a:endParaRPr lang="en-US" sz="1700" dirty="0"/>
          </a:p>
        </p:txBody>
      </p:sp>
      <p:sp>
        <p:nvSpPr>
          <p:cNvPr id="8" name="Text 5"/>
          <p:cNvSpPr/>
          <p:nvPr/>
        </p:nvSpPr>
        <p:spPr>
          <a:xfrm>
            <a:off x="1691640" y="2423160"/>
            <a:ext cx="9464040" cy="1280160"/>
          </a:xfrm>
          <a:prstGeom prst="rect">
            <a:avLst/>
          </a:prstGeom>
          <a:noFill/>
          <a:ln/>
        </p:spPr>
        <p:txBody>
          <a:bodyPr wrap="square" lIns="0" tIns="0" rIns="0" bIns="0" rtlCol="0" anchor="ctr"/>
          <a:lstStyle/>
          <a:p>
            <a:pPr indent="0" marL="0">
              <a:buNone/>
            </a:pPr>
            <a:r>
              <a:rPr lang="en-US" sz="1450" dirty="0">
                <a:solidFill>
                  <a:srgbClr val="23272F"/>
                </a:solidFill>
                <a:latin typeface="Calibri" pitchFamily="34" charset="0"/>
                <a:ea typeface="Calibri" pitchFamily="34" charset="-122"/>
                <a:cs typeface="Calibri" pitchFamily="34" charset="-120"/>
              </a:rPr>
              <a:t>When it arrives, screens will change again — and automated tests that work through the screens will need a round of rework, just like now. We are raising this today so that when the design system rollout is scheduled, a fix-up window for automation is scheduled along with it.</a:t>
            </a:r>
            <a:endParaRPr lang="en-US" sz="1450" dirty="0"/>
          </a:p>
        </p:txBody>
      </p:sp>
      <p:sp>
        <p:nvSpPr>
          <p:cNvPr id="9" name="Shape 6"/>
          <p:cNvSpPr/>
          <p:nvPr/>
        </p:nvSpPr>
        <p:spPr>
          <a:xfrm>
            <a:off x="548640" y="4206240"/>
            <a:ext cx="11091672" cy="1234440"/>
          </a:xfrm>
          <a:prstGeom prst="roundRect">
            <a:avLst>
              <a:gd name="adj" fmla="val 6667"/>
            </a:avLst>
          </a:prstGeom>
          <a:solidFill>
            <a:srgbClr val="1E2761"/>
          </a:solidFill>
          <a:ln/>
        </p:spPr>
      </p:sp>
      <p:sp>
        <p:nvSpPr>
          <p:cNvPr id="10" name="Text 7"/>
          <p:cNvSpPr/>
          <p:nvPr/>
        </p:nvSpPr>
        <p:spPr>
          <a:xfrm>
            <a:off x="914400" y="4389120"/>
            <a:ext cx="10332720" cy="914400"/>
          </a:xfrm>
          <a:prstGeom prst="rect">
            <a:avLst/>
          </a:prstGeom>
          <a:noFill/>
          <a:ln/>
        </p:spPr>
        <p:txBody>
          <a:bodyPr wrap="square" lIns="0" tIns="0" rIns="0" bIns="0" rtlCol="0" anchor="ctr"/>
          <a:lstStyle/>
          <a:p>
            <a:pPr indent="0" marL="0">
              <a:buNone/>
            </a:pPr>
            <a:r>
              <a:rPr lang="en-US" sz="1450" b="1" dirty="0">
                <a:solidFill>
                  <a:srgbClr val="E8A33D"/>
                </a:solidFill>
                <a:latin typeface="Calibri" pitchFamily="34" charset="0"/>
                <a:ea typeface="Calibri" pitchFamily="34" charset="-122"/>
                <a:cs typeface="Calibri" pitchFamily="34" charset="-120"/>
              </a:rPr>
              <a:t>Suggested next step: </a:t>
            </a:r>
            <a:pPr indent="0" marL="0">
              <a:buNone/>
            </a:pPr>
            <a:r>
              <a:rPr lang="en-US" sz="1450" dirty="0">
                <a:solidFill>
                  <a:srgbClr val="FFFFFF"/>
                </a:solidFill>
                <a:latin typeface="Calibri" pitchFamily="34" charset="0"/>
                <a:ea typeface="Calibri" pitchFamily="34" charset="-122"/>
                <a:cs typeface="Calibri" pitchFamily="34" charset="-120"/>
              </a:rPr>
              <a:t>since this will need rework on our side, we suggest a short discussion between the team driving the revamp and our QA trio once the design-system plans take shape — so the impact is understood early and the rework is planned together, not discovered later.</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LOOKING AHEAD</a:t>
            </a:r>
            <a:endParaRPr lang="en-US" sz="12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Catching Defects Earlier</a:t>
            </a:r>
            <a:endParaRPr lang="en-US" sz="3200" dirty="0"/>
          </a:p>
        </p:txBody>
      </p:sp>
      <p:sp>
        <p:nvSpPr>
          <p:cNvPr id="4" name="Text 2"/>
          <p:cNvSpPr/>
          <p:nvPr/>
        </p:nvSpPr>
        <p:spPr>
          <a:xfrm>
            <a:off x="548640" y="1371600"/>
            <a:ext cx="11064240" cy="640080"/>
          </a:xfrm>
          <a:prstGeom prst="rect">
            <a:avLst/>
          </a:prstGeom>
          <a:noFill/>
          <a:ln/>
        </p:spPr>
        <p:txBody>
          <a:bodyPr wrap="square" lIns="0" tIns="0" rIns="0" bIns="0" rtlCol="0" anchor="ctr"/>
          <a:lstStyle/>
          <a:p>
            <a:pPr indent="0" marL="0">
              <a:buNone/>
            </a:pPr>
            <a:r>
              <a:rPr lang="en-US" sz="1450" dirty="0">
                <a:solidFill>
                  <a:srgbClr val="23272F"/>
                </a:solidFill>
                <a:latin typeface="Calibri" pitchFamily="34" charset="0"/>
                <a:ea typeface="Calibri" pitchFamily="34" charset="-122"/>
                <a:cs typeface="Calibri" pitchFamily="34" charset="-120"/>
              </a:rPr>
              <a:t>Last release, most defects were found late, in UAT — the most expensive time to find them. Our aim is to move testing earlier, so problems surface while the work is still fresh. Two directions we are looking at:</a:t>
            </a:r>
            <a:endParaRPr lang="en-US" sz="1450" dirty="0"/>
          </a:p>
        </p:txBody>
      </p:sp>
      <p:sp>
        <p:nvSpPr>
          <p:cNvPr id="5" name="Shape 3"/>
          <p:cNvSpPr/>
          <p:nvPr/>
        </p:nvSpPr>
        <p:spPr>
          <a:xfrm>
            <a:off x="548640" y="2148840"/>
            <a:ext cx="5440680" cy="2331720"/>
          </a:xfrm>
          <a:prstGeom prst="roundRect">
            <a:avLst>
              <a:gd name="adj" fmla="val 3529"/>
            </a:avLst>
          </a:prstGeom>
          <a:solidFill>
            <a:srgbClr val="F2F5FC"/>
          </a:solidFill>
          <a:ln/>
        </p:spPr>
      </p:sp>
      <p:sp>
        <p:nvSpPr>
          <p:cNvPr id="6" name="Text 4"/>
          <p:cNvSpPr/>
          <p:nvPr/>
        </p:nvSpPr>
        <p:spPr>
          <a:xfrm>
            <a:off x="822960" y="2322576"/>
            <a:ext cx="4937760" cy="566928"/>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1.  Run automated checks before a build reaches QA</a:t>
            </a:r>
            <a:endParaRPr lang="en-US" sz="1400" dirty="0"/>
          </a:p>
        </p:txBody>
      </p:sp>
      <p:sp>
        <p:nvSpPr>
          <p:cNvPr id="7" name="Text 5"/>
          <p:cNvSpPr/>
          <p:nvPr/>
        </p:nvSpPr>
        <p:spPr>
          <a:xfrm>
            <a:off x="822960" y="2926080"/>
            <a:ext cx="4937760" cy="1463040"/>
          </a:xfrm>
          <a:prstGeom prst="rect">
            <a:avLst/>
          </a:prstGeom>
          <a:noFill/>
          <a:ln/>
        </p:spPr>
        <p:txBody>
          <a:bodyPr wrap="square" lIns="0" tIns="0" rIns="0" bIns="0" rtlCol="0" anchor="ctr"/>
          <a:lstStyle/>
          <a:p>
            <a:pPr marL="101600" indent="-101600">
              <a:spcAft>
                <a:spcPts val="600"/>
              </a:spcAft>
              <a:buSzPct val="100000"/>
              <a:buChar char="•"/>
            </a:pPr>
            <a:r>
              <a:rPr lang="en-US" sz="1100" dirty="0">
                <a:solidFill>
                  <a:srgbClr val="5A6472"/>
                </a:solidFill>
                <a:latin typeface="Calibri" pitchFamily="34" charset="0"/>
                <a:ea typeface="Calibri" pitchFamily="34" charset="-122"/>
                <a:cs typeface="Calibri" pitchFamily="34" charset="-120"/>
              </a:rPr>
              <a:t>When a build is ready, the existing automated tests run on the shared server before it is handed to QA — automatically, on every build.</a:t>
            </a:r>
            <a:endParaRPr lang="en-US" sz="1100" dirty="0"/>
          </a:p>
          <a:p>
            <a:pPr marL="101600" indent="-101600">
              <a:spcAft>
                <a:spcPts val="600"/>
              </a:spcAft>
              <a:buSzPct val="100000"/>
              <a:buChar char="•"/>
            </a:pPr>
            <a:r>
              <a:rPr lang="en-US" sz="1100" dirty="0">
                <a:solidFill>
                  <a:srgbClr val="5A6472"/>
                </a:solidFill>
                <a:latin typeface="Calibri" pitchFamily="34" charset="0"/>
                <a:ea typeface="Calibri" pitchFamily="34" charset="-122"/>
                <a:cs typeface="Calibri" pitchFamily="34" charset="-120"/>
              </a:rPr>
              <a:t>Obvious breakages are caught up front, so QA starts on a build that already works at a basic level.</a:t>
            </a:r>
            <a:endParaRPr lang="en-US" sz="1100" dirty="0"/>
          </a:p>
          <a:p>
            <a:pPr marL="101600" indent="-101600">
              <a:spcAft>
                <a:spcPts val="600"/>
              </a:spcAft>
              <a:buSzPct val="100000"/>
              <a:buChar char="•"/>
            </a:pPr>
            <a:r>
              <a:rPr lang="en-US" sz="1100" dirty="0">
                <a:solidFill>
                  <a:srgbClr val="5A6472"/>
                </a:solidFill>
                <a:latin typeface="Calibri" pitchFamily="34" charset="0"/>
                <a:ea typeface="Calibri" pitchFamily="34" charset="-122"/>
                <a:cs typeface="Calibri" pitchFamily="34" charset="-120"/>
              </a:rPr>
              <a:t>Low cost — it reuses tests we already have.</a:t>
            </a:r>
            <a:endParaRPr lang="en-US" sz="1100" dirty="0"/>
          </a:p>
        </p:txBody>
      </p:sp>
      <p:sp>
        <p:nvSpPr>
          <p:cNvPr id="8" name="Shape 6"/>
          <p:cNvSpPr/>
          <p:nvPr/>
        </p:nvSpPr>
        <p:spPr>
          <a:xfrm>
            <a:off x="6199632" y="2148840"/>
            <a:ext cx="5440680" cy="2331720"/>
          </a:xfrm>
          <a:prstGeom prst="roundRect">
            <a:avLst>
              <a:gd name="adj" fmla="val 3529"/>
            </a:avLst>
          </a:prstGeom>
          <a:solidFill>
            <a:srgbClr val="1E2761"/>
          </a:solidFill>
          <a:ln/>
        </p:spPr>
      </p:sp>
      <p:sp>
        <p:nvSpPr>
          <p:cNvPr id="9" name="Text 7"/>
          <p:cNvSpPr/>
          <p:nvPr/>
        </p:nvSpPr>
        <p:spPr>
          <a:xfrm>
            <a:off x="6473952" y="2322576"/>
            <a:ext cx="4937760" cy="566928"/>
          </a:xfrm>
          <a:prstGeom prst="rect">
            <a:avLst/>
          </a:prstGeom>
          <a:noFill/>
          <a:ln/>
        </p:spPr>
        <p:txBody>
          <a:bodyPr wrap="square" lIns="0" tIns="0" rIns="0" bIns="0" rtlCol="0" anchor="ctr"/>
          <a:lstStyle/>
          <a:p>
            <a:pPr indent="0" marL="0">
              <a:buNone/>
            </a:pPr>
            <a:r>
              <a:rPr lang="en-US" sz="1400" b="1" dirty="0">
                <a:solidFill>
                  <a:srgbClr val="E8A33D"/>
                </a:solidFill>
                <a:latin typeface="Calibri" pitchFamily="34" charset="0"/>
                <a:ea typeface="Calibri" pitchFamily="34" charset="-122"/>
                <a:cs typeface="Calibri" pitchFamily="34" charset="-120"/>
              </a:rPr>
              <a:t>2.  Add checks at the API level</a:t>
            </a:r>
            <a:endParaRPr lang="en-US" sz="1400" dirty="0"/>
          </a:p>
        </p:txBody>
      </p:sp>
      <p:sp>
        <p:nvSpPr>
          <p:cNvPr id="10" name="Text 8"/>
          <p:cNvSpPr/>
          <p:nvPr/>
        </p:nvSpPr>
        <p:spPr>
          <a:xfrm>
            <a:off x="6473952" y="2926080"/>
            <a:ext cx="4937760" cy="1463040"/>
          </a:xfrm>
          <a:prstGeom prst="rect">
            <a:avLst/>
          </a:prstGeom>
          <a:noFill/>
          <a:ln/>
        </p:spPr>
        <p:txBody>
          <a:bodyPr wrap="square" lIns="0" tIns="0" rIns="0" bIns="0" rtlCol="0" anchor="ctr"/>
          <a:lstStyle/>
          <a:p>
            <a:pPr marL="101600" indent="-101600">
              <a:spcAft>
                <a:spcPts val="600"/>
              </a:spcAft>
              <a:buSzPct val="100000"/>
              <a:buChar char="•"/>
            </a:pPr>
            <a:r>
              <a:rPr lang="en-US" sz="1100" dirty="0">
                <a:solidFill>
                  <a:srgbClr val="FFFFFF"/>
                </a:solidFill>
                <a:latin typeface="Calibri" pitchFamily="34" charset="0"/>
                <a:ea typeface="Calibri" pitchFamily="34" charset="-122"/>
                <a:cs typeface="Calibri" pitchFamily="34" charset="-120"/>
              </a:rPr>
              <a:t>Screen-based tests can only catch what the screens show. Many deeper problems — in the application's logic and in how data moves between systems — don't show up through the screens.</a:t>
            </a:r>
            <a:endParaRPr lang="en-US" sz="1100" dirty="0"/>
          </a:p>
          <a:p>
            <a:pPr marL="101600" indent="-101600">
              <a:spcAft>
                <a:spcPts val="600"/>
              </a:spcAft>
              <a:buSzPct val="100000"/>
              <a:buChar char="•"/>
            </a:pPr>
            <a:r>
              <a:rPr lang="en-US" sz="1100" dirty="0">
                <a:solidFill>
                  <a:srgbClr val="FFFFFF"/>
                </a:solidFill>
                <a:latin typeface="Calibri" pitchFamily="34" charset="0"/>
                <a:ea typeface="Calibri" pitchFamily="34" charset="-122"/>
                <a:cs typeface="Calibri" pitchFamily="34" charset="-120"/>
              </a:rPr>
              <a:t>API checks test that logic directly, underneath the screens — reaching the kind of defect screen tests tend to miss.</a:t>
            </a:r>
            <a:endParaRPr lang="en-US" sz="1100" dirty="0"/>
          </a:p>
          <a:p>
            <a:pPr marL="101600" indent="-101600">
              <a:spcAft>
                <a:spcPts val="600"/>
              </a:spcAft>
              <a:buSzPct val="100000"/>
              <a:buChar char="•"/>
            </a:pPr>
            <a:r>
              <a:rPr lang="en-US" sz="1100" dirty="0">
                <a:solidFill>
                  <a:srgbClr val="FFFFFF"/>
                </a:solidFill>
                <a:latin typeface="Calibri" pitchFamily="34" charset="0"/>
                <a:ea typeface="Calibri" pitchFamily="34" charset="-122"/>
                <a:cs typeface="Calibri" pitchFamily="34" charset="-120"/>
              </a:rPr>
              <a:t>They are quick, run on every build, and a redesign does not break them.</a:t>
            </a:r>
            <a:endParaRPr lang="en-US" sz="1100" dirty="0"/>
          </a:p>
        </p:txBody>
      </p:sp>
      <p:sp>
        <p:nvSpPr>
          <p:cNvPr id="11" name="Shape 9"/>
          <p:cNvSpPr/>
          <p:nvPr/>
        </p:nvSpPr>
        <p:spPr>
          <a:xfrm>
            <a:off x="548640" y="4754880"/>
            <a:ext cx="11091672" cy="1371600"/>
          </a:xfrm>
          <a:prstGeom prst="roundRect">
            <a:avLst>
              <a:gd name="adj" fmla="val 6000"/>
            </a:avLst>
          </a:prstGeom>
          <a:solidFill>
            <a:srgbClr val="F2F5FC"/>
          </a:solidFill>
          <a:ln/>
        </p:spPr>
      </p:sp>
      <p:sp>
        <p:nvSpPr>
          <p:cNvPr id="12" name="Text 10"/>
          <p:cNvSpPr/>
          <p:nvPr/>
        </p:nvSpPr>
        <p:spPr>
          <a:xfrm>
            <a:off x="914400" y="4919472"/>
            <a:ext cx="10378440" cy="68580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Why both matter together:  </a:t>
            </a:r>
            <a:pPr indent="0" marL="0">
              <a:buNone/>
            </a:pPr>
            <a:r>
              <a:rPr lang="en-US" sz="1300" dirty="0">
                <a:solidFill>
                  <a:srgbClr val="23272F"/>
                </a:solidFill>
                <a:latin typeface="Calibri" pitchFamily="34" charset="0"/>
                <a:ea typeface="Calibri" pitchFamily="34" charset="-122"/>
                <a:cs typeface="Calibri" pitchFamily="34" charset="-120"/>
              </a:rPr>
              <a:t>the first idea catches obvious breaks early. But screen-based testing alone — run by anyone — leaves the deeper defects for last. Adding API checks is how we start finding those earlier too, which is exactly the gap that hurt us last release.</a:t>
            </a:r>
            <a:endParaRPr lang="en-US" sz="1300" dirty="0"/>
          </a:p>
        </p:txBody>
      </p:sp>
      <p:sp>
        <p:nvSpPr>
          <p:cNvPr id="13" name="Text 11"/>
          <p:cNvSpPr/>
          <p:nvPr/>
        </p:nvSpPr>
        <p:spPr>
          <a:xfrm>
            <a:off x="914400" y="5623560"/>
            <a:ext cx="10378440" cy="411480"/>
          </a:xfrm>
          <a:prstGeom prst="rect">
            <a:avLst/>
          </a:prstGeom>
          <a:noFill/>
          <a:ln/>
        </p:spPr>
        <p:txBody>
          <a:bodyPr wrap="square" lIns="0" tIns="0" rIns="0" bIns="0" rtlCol="0" anchor="ctr"/>
          <a:lstStyle/>
          <a:p>
            <a:pPr indent="0" marL="0">
              <a:buNone/>
            </a:pPr>
            <a:r>
              <a:rPr lang="en-US" sz="1150" i="1" dirty="0">
                <a:solidFill>
                  <a:srgbClr val="5A6472"/>
                </a:solidFill>
                <a:latin typeface="Calibri" pitchFamily="34" charset="0"/>
                <a:ea typeface="Calibri" pitchFamily="34" charset="-122"/>
                <a:cs typeface="Calibri" pitchFamily="34" charset="-120"/>
              </a:rPr>
              <a:t>Still a direction we are evaluating — not a finished plan. It can be taken up by QA, by the development team, or both together, and we will come back with a concrete proposal.</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2026-07-20T18:56:47Z</dcterms:created>
  <dcterms:modified xsi:type="dcterms:W3CDTF">2026-07-20T18:56:47Z</dcterms:modified>
</cp:coreProperties>
</file>